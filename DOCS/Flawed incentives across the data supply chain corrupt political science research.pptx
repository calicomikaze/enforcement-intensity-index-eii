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ECECE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ECECE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ECECE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ECECE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718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533399" y="485774"/>
            <a:ext cx="419100" cy="28575"/>
          </a:xfrm>
          <a:custGeom>
            <a:avLst/>
            <a:gdLst/>
            <a:ahLst/>
            <a:cxnLst/>
            <a:rect l="l" t="t" r="r" b="b"/>
            <a:pathLst>
              <a:path w="419100" h="28575">
                <a:moveTo>
                  <a:pt x="419099" y="28574"/>
                </a:moveTo>
                <a:lnTo>
                  <a:pt x="0" y="28574"/>
                </a:lnTo>
                <a:lnTo>
                  <a:pt x="0" y="0"/>
                </a:lnTo>
                <a:lnTo>
                  <a:pt x="419099" y="0"/>
                </a:lnTo>
                <a:lnTo>
                  <a:pt x="419099" y="28574"/>
                </a:lnTo>
                <a:close/>
              </a:path>
            </a:pathLst>
          </a:custGeom>
          <a:solidFill>
            <a:srgbClr val="B4F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0700" y="673100"/>
            <a:ext cx="13726794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ECECE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3150" y="368300"/>
            <a:ext cx="37636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69365" algn="l"/>
                <a:tab pos="2778125" algn="l"/>
              </a:tabLst>
            </a:pP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P</a:t>
            </a:r>
            <a:r>
              <a:rPr dirty="0" sz="12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O</a:t>
            </a:r>
            <a:r>
              <a:rPr dirty="0" sz="12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L</a:t>
            </a:r>
            <a:r>
              <a:rPr dirty="0" sz="12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I</a:t>
            </a:r>
            <a:r>
              <a:rPr dirty="0" sz="12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T</a:t>
            </a:r>
            <a:r>
              <a:rPr dirty="0" sz="12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I</a:t>
            </a:r>
            <a:r>
              <a:rPr dirty="0" sz="12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C</a:t>
            </a:r>
            <a:r>
              <a:rPr dirty="0" sz="12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A</a:t>
            </a:r>
            <a:r>
              <a:rPr dirty="0" sz="12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50" b="1">
                <a:solidFill>
                  <a:srgbClr val="B4FF38"/>
                </a:solidFill>
                <a:latin typeface="Courier New"/>
                <a:cs typeface="Courier New"/>
              </a:rPr>
              <a:t>L</a:t>
            </a:r>
            <a:r>
              <a:rPr dirty="0" sz="1200" b="1">
                <a:solidFill>
                  <a:srgbClr val="B4FF38"/>
                </a:solidFill>
                <a:latin typeface="Courier New"/>
                <a:cs typeface="Courier New"/>
              </a:rPr>
              <a:t>	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M</a:t>
            </a:r>
            <a:r>
              <a:rPr dirty="0" sz="12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E</a:t>
            </a:r>
            <a:r>
              <a:rPr dirty="0" sz="12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T</a:t>
            </a:r>
            <a:r>
              <a:rPr dirty="0" sz="12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H</a:t>
            </a:r>
            <a:r>
              <a:rPr dirty="0" sz="12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O</a:t>
            </a:r>
            <a:r>
              <a:rPr dirty="0" sz="12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D</a:t>
            </a:r>
            <a:r>
              <a:rPr dirty="0" sz="12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O</a:t>
            </a:r>
            <a:r>
              <a:rPr dirty="0" sz="12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L</a:t>
            </a:r>
            <a:r>
              <a:rPr dirty="0" sz="12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O</a:t>
            </a:r>
            <a:r>
              <a:rPr dirty="0" sz="12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G</a:t>
            </a:r>
            <a:r>
              <a:rPr dirty="0" sz="12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50" b="1">
                <a:solidFill>
                  <a:srgbClr val="B4FF38"/>
                </a:solidFill>
                <a:latin typeface="Courier New"/>
                <a:cs typeface="Courier New"/>
              </a:rPr>
              <a:t>Y</a:t>
            </a:r>
            <a:r>
              <a:rPr dirty="0" sz="1200" b="1">
                <a:solidFill>
                  <a:srgbClr val="B4FF38"/>
                </a:solidFill>
                <a:latin typeface="Courier New"/>
                <a:cs typeface="Courier New"/>
              </a:rPr>
              <a:t>	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R</a:t>
            </a:r>
            <a:r>
              <a:rPr dirty="0" sz="12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E</a:t>
            </a:r>
            <a:r>
              <a:rPr dirty="0" sz="12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S</a:t>
            </a:r>
            <a:r>
              <a:rPr dirty="0" sz="12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E</a:t>
            </a:r>
            <a:r>
              <a:rPr dirty="0" sz="12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A</a:t>
            </a:r>
            <a:r>
              <a:rPr dirty="0" sz="12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R</a:t>
            </a:r>
            <a:r>
              <a:rPr dirty="0" sz="12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C</a:t>
            </a:r>
            <a:r>
              <a:rPr dirty="0" sz="12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50" b="1">
                <a:solidFill>
                  <a:srgbClr val="B4FF38"/>
                </a:solidFill>
                <a:latin typeface="Courier New"/>
                <a:cs typeface="Courier New"/>
              </a:rPr>
              <a:t>H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10"/>
              <a:t>Flawed</a:t>
            </a:r>
            <a:r>
              <a:rPr dirty="0" spc="-185"/>
              <a:t> </a:t>
            </a:r>
            <a:r>
              <a:rPr dirty="0" spc="-114"/>
              <a:t>incentives</a:t>
            </a:r>
            <a:r>
              <a:rPr dirty="0" spc="-160"/>
              <a:t> </a:t>
            </a:r>
            <a:r>
              <a:rPr dirty="0" spc="-95"/>
              <a:t>across</a:t>
            </a:r>
            <a:r>
              <a:rPr dirty="0" spc="-165"/>
              <a:t> </a:t>
            </a:r>
            <a:r>
              <a:rPr dirty="0" spc="-95"/>
              <a:t>the</a:t>
            </a:r>
            <a:r>
              <a:rPr dirty="0" spc="-165"/>
              <a:t> </a:t>
            </a:r>
            <a:r>
              <a:rPr dirty="0" spc="-100"/>
              <a:t>data</a:t>
            </a:r>
            <a:r>
              <a:rPr dirty="0" spc="-165"/>
              <a:t> </a:t>
            </a:r>
            <a:r>
              <a:rPr dirty="0" spc="-114"/>
              <a:t>supply</a:t>
            </a:r>
            <a:r>
              <a:rPr dirty="0" spc="-165"/>
              <a:t> </a:t>
            </a:r>
            <a:r>
              <a:rPr dirty="0" spc="-105"/>
              <a:t>chain</a:t>
            </a:r>
            <a:r>
              <a:rPr dirty="0" spc="-180"/>
              <a:t> </a:t>
            </a:r>
            <a:r>
              <a:rPr dirty="0" spc="-105"/>
              <a:t>corrupt</a:t>
            </a:r>
            <a:r>
              <a:rPr dirty="0" spc="-170"/>
              <a:t> </a:t>
            </a:r>
            <a:r>
              <a:rPr dirty="0" spc="-114"/>
              <a:t>political</a:t>
            </a:r>
            <a:r>
              <a:rPr dirty="0" spc="-150"/>
              <a:t> </a:t>
            </a:r>
            <a:r>
              <a:rPr dirty="0" spc="-105"/>
              <a:t>science</a:t>
            </a:r>
            <a:r>
              <a:rPr dirty="0" spc="-165"/>
              <a:t> </a:t>
            </a:r>
            <a:r>
              <a:rPr dirty="0" spc="-10"/>
              <a:t>research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0700" y="1254125"/>
            <a:ext cx="79495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i="1">
                <a:solidFill>
                  <a:srgbClr val="9CA2AF"/>
                </a:solidFill>
                <a:latin typeface="Arial"/>
                <a:cs typeface="Arial"/>
              </a:rPr>
              <a:t>Herrera</a:t>
            </a:r>
            <a:r>
              <a:rPr dirty="0" sz="1200" spc="-25" i="1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9CA2AF"/>
                </a:solidFill>
                <a:latin typeface="Arial"/>
                <a:cs typeface="Arial"/>
              </a:rPr>
              <a:t>&amp; Kapur</a:t>
            </a:r>
            <a:r>
              <a:rPr dirty="0" sz="1200" spc="-50" i="1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9CA2AF"/>
                </a:solidFill>
                <a:latin typeface="Arial"/>
                <a:cs typeface="Arial"/>
              </a:rPr>
              <a:t>(2007)</a:t>
            </a:r>
            <a:r>
              <a:rPr dirty="0" sz="1200" spc="120" i="1">
                <a:solidFill>
                  <a:srgbClr val="9CA2AF"/>
                </a:solidFill>
                <a:latin typeface="Arial"/>
                <a:cs typeface="Arial"/>
              </a:rPr>
              <a:t>  </a:t>
            </a:r>
            <a:r>
              <a:rPr dirty="0" sz="1200" i="1">
                <a:solidFill>
                  <a:srgbClr val="B4FF38"/>
                </a:solidFill>
                <a:latin typeface="Arial"/>
                <a:cs typeface="Arial"/>
              </a:rPr>
              <a:t>·</a:t>
            </a:r>
            <a:r>
              <a:rPr dirty="0" sz="1200" spc="114" i="1">
                <a:solidFill>
                  <a:srgbClr val="B4FF38"/>
                </a:solidFill>
                <a:latin typeface="Arial"/>
                <a:cs typeface="Arial"/>
              </a:rPr>
              <a:t>  </a:t>
            </a:r>
            <a:r>
              <a:rPr dirty="0" sz="1200" i="1">
                <a:solidFill>
                  <a:srgbClr val="9CA2AF"/>
                </a:solidFill>
                <a:latin typeface="Arial"/>
                <a:cs typeface="Arial"/>
              </a:rPr>
              <a:t>Harvard</a:t>
            </a:r>
            <a:r>
              <a:rPr dirty="0" sz="1200" spc="-20" i="1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9CA2AF"/>
                </a:solidFill>
                <a:latin typeface="Arial"/>
                <a:cs typeface="Arial"/>
              </a:rPr>
              <a:t>University</a:t>
            </a:r>
            <a:r>
              <a:rPr dirty="0" sz="1200" spc="-25" i="1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9CA2AF"/>
                </a:solidFill>
                <a:latin typeface="Arial"/>
                <a:cs typeface="Arial"/>
              </a:rPr>
              <a:t>/</a:t>
            </a:r>
            <a:r>
              <a:rPr dirty="0" sz="1200" spc="-60" i="1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9CA2AF"/>
                </a:solidFill>
                <a:latin typeface="Arial"/>
                <a:cs typeface="Arial"/>
              </a:rPr>
              <a:t>University</a:t>
            </a:r>
            <a:r>
              <a:rPr dirty="0" sz="1200" spc="-25" i="1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9CA2AF"/>
                </a:solidFill>
                <a:latin typeface="Arial"/>
                <a:cs typeface="Arial"/>
              </a:rPr>
              <a:t>of</a:t>
            </a:r>
            <a:r>
              <a:rPr dirty="0" sz="1200" spc="-65" i="1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9CA2AF"/>
                </a:solidFill>
                <a:latin typeface="Arial"/>
                <a:cs typeface="Arial"/>
              </a:rPr>
              <a:t>Pennsylvania</a:t>
            </a:r>
            <a:r>
              <a:rPr dirty="0" sz="1200" spc="135" i="1">
                <a:solidFill>
                  <a:srgbClr val="9CA2AF"/>
                </a:solidFill>
                <a:latin typeface="Arial"/>
                <a:cs typeface="Arial"/>
              </a:rPr>
              <a:t>  </a:t>
            </a:r>
            <a:r>
              <a:rPr dirty="0" sz="1200" i="1">
                <a:solidFill>
                  <a:srgbClr val="B4FF38"/>
                </a:solidFill>
                <a:latin typeface="Arial"/>
                <a:cs typeface="Arial"/>
              </a:rPr>
              <a:t>·</a:t>
            </a:r>
            <a:r>
              <a:rPr dirty="0" sz="1200" spc="114" i="1">
                <a:solidFill>
                  <a:srgbClr val="B4FF38"/>
                </a:solidFill>
                <a:latin typeface="Arial"/>
                <a:cs typeface="Arial"/>
              </a:rPr>
              <a:t>  </a:t>
            </a:r>
            <a:r>
              <a:rPr dirty="0" sz="1200" i="1">
                <a:solidFill>
                  <a:srgbClr val="9CA2AF"/>
                </a:solidFill>
                <a:latin typeface="Arial"/>
                <a:cs typeface="Arial"/>
              </a:rPr>
              <a:t>Political</a:t>
            </a:r>
            <a:r>
              <a:rPr dirty="0" sz="1200" spc="15" i="1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9CA2AF"/>
                </a:solidFill>
                <a:latin typeface="Arial"/>
                <a:cs typeface="Arial"/>
              </a:rPr>
              <a:t>Analysis,</a:t>
            </a:r>
            <a:r>
              <a:rPr dirty="0" sz="1200" spc="-65" i="1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9CA2AF"/>
                </a:solidFill>
                <a:latin typeface="Arial"/>
                <a:cs typeface="Arial"/>
              </a:rPr>
              <a:t>Vol.</a:t>
            </a:r>
            <a:r>
              <a:rPr dirty="0" sz="1200" spc="-60" i="1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9CA2AF"/>
                </a:solidFill>
                <a:latin typeface="Arial"/>
                <a:cs typeface="Arial"/>
              </a:rPr>
              <a:t>15,</a:t>
            </a:r>
            <a:r>
              <a:rPr dirty="0" sz="1200" spc="-60" i="1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9CA2AF"/>
                </a:solidFill>
                <a:latin typeface="Arial"/>
                <a:cs typeface="Arial"/>
              </a:rPr>
              <a:t>pp.</a:t>
            </a:r>
            <a:r>
              <a:rPr dirty="0" sz="1200" spc="-65" i="1">
                <a:solidFill>
                  <a:srgbClr val="9CA2AF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9CA2AF"/>
                </a:solidFill>
                <a:latin typeface="Arial"/>
                <a:cs typeface="Arial"/>
              </a:rPr>
              <a:t>365–</a:t>
            </a:r>
            <a:r>
              <a:rPr dirty="0" sz="1200" spc="-25" i="1">
                <a:solidFill>
                  <a:srgbClr val="9CA2AF"/>
                </a:solidFill>
                <a:latin typeface="Arial"/>
                <a:cs typeface="Arial"/>
              </a:rPr>
              <a:t>386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8162" y="2052637"/>
            <a:ext cx="5629275" cy="1733550"/>
          </a:xfrm>
          <a:prstGeom prst="rect">
            <a:avLst/>
          </a:prstGeom>
          <a:ln w="9524">
            <a:solidFill>
              <a:srgbClr val="9CA2AF"/>
            </a:solidFill>
          </a:ln>
        </p:spPr>
        <p:txBody>
          <a:bodyPr wrap="square" lIns="0" tIns="565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45"/>
              </a:spcBef>
            </a:pPr>
            <a:endParaRPr sz="1100">
              <a:latin typeface="Times New Roman"/>
              <a:cs typeface="Times New Roman"/>
            </a:endParaRPr>
          </a:p>
          <a:p>
            <a:pPr marL="233045">
              <a:lnSpc>
                <a:spcPct val="100000"/>
              </a:lnSpc>
              <a:tabLst>
                <a:tab pos="2239010" algn="l"/>
              </a:tabLst>
            </a:pP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T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H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R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E</a:t>
            </a:r>
            <a:r>
              <a:rPr dirty="0" sz="11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E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-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D</a:t>
            </a:r>
            <a:r>
              <a:rPr dirty="0" sz="11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I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M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E</a:t>
            </a:r>
            <a:r>
              <a:rPr dirty="0" sz="11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N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S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I</a:t>
            </a:r>
            <a:r>
              <a:rPr dirty="0" sz="11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O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N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A</a:t>
            </a:r>
            <a:r>
              <a:rPr dirty="0" sz="11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spc="-50" b="1">
                <a:solidFill>
                  <a:srgbClr val="B4FF38"/>
                </a:solidFill>
                <a:latin typeface="Courier New"/>
                <a:cs typeface="Courier New"/>
              </a:rPr>
              <a:t>L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	F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A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I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L</a:t>
            </a:r>
            <a:r>
              <a:rPr dirty="0" sz="11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U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R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spc="-50" b="1">
                <a:solidFill>
                  <a:srgbClr val="B4FF38"/>
                </a:solidFill>
                <a:latin typeface="Courier New"/>
                <a:cs typeface="Courier New"/>
              </a:rPr>
              <a:t>E</a:t>
            </a:r>
            <a:endParaRPr sz="1100">
              <a:latin typeface="Courier New"/>
              <a:cs typeface="Courier New"/>
            </a:endParaRPr>
          </a:p>
          <a:p>
            <a:pPr marL="233045">
              <a:lnSpc>
                <a:spcPct val="100000"/>
              </a:lnSpc>
              <a:spcBef>
                <a:spcPts val="1155"/>
              </a:spcBef>
            </a:pP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Data</a:t>
            </a:r>
            <a:r>
              <a:rPr dirty="0" sz="1400" spc="125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quality</a:t>
            </a:r>
            <a:r>
              <a:rPr dirty="0" sz="1400" spc="125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failures</a:t>
            </a:r>
            <a:r>
              <a:rPr dirty="0" sz="1400" spc="125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span</a:t>
            </a:r>
            <a:r>
              <a:rPr dirty="0" sz="1400" spc="125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B4FF38"/>
                </a:solidFill>
                <a:latin typeface="Arial"/>
                <a:cs typeface="Arial"/>
              </a:rPr>
              <a:t>validity,</a:t>
            </a:r>
            <a:r>
              <a:rPr dirty="0" sz="1400" spc="6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B4FF38"/>
                </a:solidFill>
                <a:latin typeface="Arial"/>
                <a:cs typeface="Arial"/>
              </a:rPr>
              <a:t>coverage,</a:t>
            </a:r>
            <a:r>
              <a:rPr dirty="0" sz="1400" spc="60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B4FF38"/>
                </a:solidFill>
                <a:latin typeface="Arial"/>
                <a:cs typeface="Arial"/>
              </a:rPr>
              <a:t>and</a:t>
            </a:r>
            <a:r>
              <a:rPr dirty="0" sz="1400" spc="130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B4FF38"/>
                </a:solidFill>
                <a:latin typeface="Arial"/>
                <a:cs typeface="Arial"/>
              </a:rPr>
              <a:t>accuracy</a:t>
            </a:r>
            <a:endParaRPr sz="1400">
              <a:latin typeface="Arial"/>
              <a:cs typeface="Arial"/>
            </a:endParaRPr>
          </a:p>
          <a:p>
            <a:pPr marL="233045" marR="251460">
              <a:lnSpc>
                <a:spcPts val="1950"/>
              </a:lnSpc>
              <a:spcBef>
                <a:spcPts val="35"/>
              </a:spcBef>
            </a:pP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—</a:t>
            </a:r>
            <a:r>
              <a:rPr dirty="0" sz="1400" spc="75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and</a:t>
            </a:r>
            <a:r>
              <a:rPr dirty="0" sz="1400" spc="114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widely</a:t>
            </a:r>
            <a:r>
              <a:rPr dirty="0" sz="1400" spc="114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used</a:t>
            </a:r>
            <a:r>
              <a:rPr dirty="0" sz="1400" spc="114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indices</a:t>
            </a:r>
            <a:r>
              <a:rPr dirty="0" sz="1400" spc="114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like</a:t>
            </a:r>
            <a:r>
              <a:rPr dirty="0" sz="1400" spc="114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Polity</a:t>
            </a:r>
            <a:r>
              <a:rPr dirty="0" sz="1400" spc="114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and</a:t>
            </a:r>
            <a:r>
              <a:rPr dirty="0" sz="1400" spc="114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Freedom</a:t>
            </a:r>
            <a:r>
              <a:rPr dirty="0" sz="1400" spc="85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ECECED"/>
                </a:solidFill>
                <a:latin typeface="Arial"/>
                <a:cs typeface="Arial"/>
              </a:rPr>
              <a:t>House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exhibit</a:t>
            </a:r>
            <a:r>
              <a:rPr dirty="0" sz="1400" spc="90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documented</a:t>
            </a:r>
            <a:r>
              <a:rPr dirty="0" sz="1400" spc="170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problems</a:t>
            </a:r>
            <a:r>
              <a:rPr dirty="0" sz="1400" spc="170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across</a:t>
            </a:r>
            <a:r>
              <a:rPr dirty="0" sz="1400" spc="170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all</a:t>
            </a:r>
            <a:r>
              <a:rPr dirty="0" sz="1400" spc="100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three</a:t>
            </a:r>
            <a:r>
              <a:rPr dirty="0" sz="1400" spc="170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ECECED"/>
                </a:solidFill>
                <a:latin typeface="Arial"/>
                <a:cs typeface="Arial"/>
              </a:rPr>
              <a:t>dimensions.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324599" y="2047874"/>
            <a:ext cx="5638800" cy="1743075"/>
            <a:chOff x="6324599" y="2047874"/>
            <a:chExt cx="5638800" cy="1743075"/>
          </a:xfrm>
        </p:grpSpPr>
        <p:sp>
          <p:nvSpPr>
            <p:cNvPr id="7" name="object 7"/>
            <p:cNvSpPr/>
            <p:nvPr/>
          </p:nvSpPr>
          <p:spPr>
            <a:xfrm>
              <a:off x="6324599" y="2047874"/>
              <a:ext cx="5638800" cy="1743075"/>
            </a:xfrm>
            <a:custGeom>
              <a:avLst/>
              <a:gdLst/>
              <a:ahLst/>
              <a:cxnLst/>
              <a:rect l="l" t="t" r="r" b="b"/>
              <a:pathLst>
                <a:path w="5638800" h="1743075">
                  <a:moveTo>
                    <a:pt x="5638799" y="1743074"/>
                  </a:moveTo>
                  <a:lnTo>
                    <a:pt x="0" y="1743074"/>
                  </a:lnTo>
                  <a:lnTo>
                    <a:pt x="0" y="0"/>
                  </a:lnTo>
                  <a:lnTo>
                    <a:pt x="5638799" y="0"/>
                  </a:lnTo>
                  <a:lnTo>
                    <a:pt x="5638799" y="1743074"/>
                  </a:lnTo>
                  <a:close/>
                </a:path>
              </a:pathLst>
            </a:custGeom>
            <a:solidFill>
              <a:srgbClr val="0D0F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324599" y="2047874"/>
              <a:ext cx="5638800" cy="38100"/>
            </a:xfrm>
            <a:custGeom>
              <a:avLst/>
              <a:gdLst/>
              <a:ahLst/>
              <a:cxnLst/>
              <a:rect l="l" t="t" r="r" b="b"/>
              <a:pathLst>
                <a:path w="5638800" h="38100">
                  <a:moveTo>
                    <a:pt x="56387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5638799" y="0"/>
                  </a:lnTo>
                  <a:lnTo>
                    <a:pt x="5638799" y="38099"/>
                  </a:lnTo>
                  <a:close/>
                </a:path>
              </a:pathLst>
            </a:custGeom>
            <a:solidFill>
              <a:srgbClr val="B4F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324599" y="2282825"/>
            <a:ext cx="5638800" cy="12903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125"/>
              </a:spcBef>
              <a:tabLst>
                <a:tab pos="1008380" algn="l"/>
                <a:tab pos="1677035" algn="l"/>
                <a:tab pos="2011045" algn="l"/>
              </a:tabLst>
            </a:pP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S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U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P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P</a:t>
            </a:r>
            <a:r>
              <a:rPr dirty="0" sz="11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L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spc="-50" b="1">
                <a:solidFill>
                  <a:srgbClr val="B4FF38"/>
                </a:solidFill>
                <a:latin typeface="Courier New"/>
                <a:cs typeface="Courier New"/>
              </a:rPr>
              <a:t>Y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	C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H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A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I</a:t>
            </a:r>
            <a:r>
              <a:rPr dirty="0" sz="11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spc="-50" b="1">
                <a:solidFill>
                  <a:srgbClr val="B4FF38"/>
                </a:solidFill>
                <a:latin typeface="Courier New"/>
                <a:cs typeface="Courier New"/>
              </a:rPr>
              <a:t>N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	O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spc="-50" b="1">
                <a:solidFill>
                  <a:srgbClr val="B4FF38"/>
                </a:solidFill>
                <a:latin typeface="Courier New"/>
                <a:cs typeface="Courier New"/>
              </a:rPr>
              <a:t>F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	D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I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S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T</a:t>
            </a:r>
            <a:r>
              <a:rPr dirty="0" sz="11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O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R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T</a:t>
            </a:r>
            <a:r>
              <a:rPr dirty="0" sz="11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I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O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spc="-50" b="1">
                <a:solidFill>
                  <a:srgbClr val="B4FF38"/>
                </a:solidFill>
                <a:latin typeface="Courier New"/>
                <a:cs typeface="Courier New"/>
              </a:rPr>
              <a:t>N</a:t>
            </a:r>
            <a:endParaRPr sz="1100">
              <a:latin typeface="Courier New"/>
              <a:cs typeface="Courier New"/>
            </a:endParaRPr>
          </a:p>
          <a:p>
            <a:pPr marL="228600" marR="436880">
              <a:lnSpc>
                <a:spcPct val="114599"/>
              </a:lnSpc>
              <a:spcBef>
                <a:spcPts val="910"/>
              </a:spcBef>
            </a:pPr>
            <a:r>
              <a:rPr dirty="0" sz="1400" spc="10" b="1">
                <a:solidFill>
                  <a:srgbClr val="ECECED"/>
                </a:solidFill>
                <a:latin typeface="Arial"/>
                <a:cs typeface="Arial"/>
              </a:rPr>
              <a:t>Four</a:t>
            </a:r>
            <a:r>
              <a:rPr dirty="0" sz="1400" spc="45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spc="10" b="1">
                <a:solidFill>
                  <a:srgbClr val="ECECED"/>
                </a:solidFill>
                <a:latin typeface="Arial"/>
                <a:cs typeface="Arial"/>
              </a:rPr>
              <a:t>actors</a:t>
            </a:r>
            <a:r>
              <a:rPr dirty="0" sz="1400" spc="125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spc="10" b="1">
                <a:solidFill>
                  <a:srgbClr val="ECECED"/>
                </a:solidFill>
                <a:latin typeface="Arial"/>
                <a:cs typeface="Arial"/>
              </a:rPr>
              <a:t>—</a:t>
            </a:r>
            <a:r>
              <a:rPr dirty="0" sz="1400" spc="85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spc="10" b="1">
                <a:solidFill>
                  <a:srgbClr val="B4FF38"/>
                </a:solidFill>
                <a:latin typeface="Arial"/>
                <a:cs typeface="Arial"/>
              </a:rPr>
              <a:t>respondents,</a:t>
            </a:r>
            <a:r>
              <a:rPr dirty="0" sz="1400" spc="60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400" spc="10" b="1">
                <a:solidFill>
                  <a:srgbClr val="B4FF38"/>
                </a:solidFill>
                <a:latin typeface="Arial"/>
                <a:cs typeface="Arial"/>
              </a:rPr>
              <a:t>state</a:t>
            </a:r>
            <a:r>
              <a:rPr dirty="0" sz="1400" spc="12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400" spc="10" b="1">
                <a:solidFill>
                  <a:srgbClr val="B4FF38"/>
                </a:solidFill>
                <a:latin typeface="Arial"/>
                <a:cs typeface="Arial"/>
              </a:rPr>
              <a:t>agencies,</a:t>
            </a:r>
            <a:r>
              <a:rPr dirty="0" sz="1400" spc="60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B4FF38"/>
                </a:solidFill>
                <a:latin typeface="Arial"/>
                <a:cs typeface="Arial"/>
              </a:rPr>
              <a:t>international </a:t>
            </a:r>
            <a:r>
              <a:rPr dirty="0" sz="1400" b="1">
                <a:solidFill>
                  <a:srgbClr val="B4FF38"/>
                </a:solidFill>
                <a:latin typeface="Arial"/>
                <a:cs typeface="Arial"/>
              </a:rPr>
              <a:t>organizations,</a:t>
            </a:r>
            <a:r>
              <a:rPr dirty="0" sz="1400" spc="110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B4FF38"/>
                </a:solidFill>
                <a:latin typeface="Arial"/>
                <a:cs typeface="Arial"/>
              </a:rPr>
              <a:t>and</a:t>
            </a:r>
            <a:r>
              <a:rPr dirty="0" sz="1400" spc="180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B4FF38"/>
                </a:solidFill>
                <a:latin typeface="Arial"/>
                <a:cs typeface="Arial"/>
              </a:rPr>
              <a:t>academics</a:t>
            </a:r>
            <a:r>
              <a:rPr dirty="0" sz="1400" spc="180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—</a:t>
            </a:r>
            <a:r>
              <a:rPr dirty="0" sz="1400" spc="140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each</a:t>
            </a:r>
            <a:r>
              <a:rPr dirty="0" sz="1400" spc="180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face</a:t>
            </a:r>
            <a:r>
              <a:rPr dirty="0" sz="1400" spc="180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ECECED"/>
                </a:solidFill>
                <a:latin typeface="Arial"/>
                <a:cs typeface="Arial"/>
              </a:rPr>
              <a:t>incentive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structures</a:t>
            </a:r>
            <a:r>
              <a:rPr dirty="0" sz="1400" spc="160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that</a:t>
            </a:r>
            <a:r>
              <a:rPr dirty="0" sz="1400" spc="90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systematically</a:t>
            </a:r>
            <a:r>
              <a:rPr dirty="0" sz="1400" spc="165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push</a:t>
            </a:r>
            <a:r>
              <a:rPr dirty="0" sz="1400" spc="165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toward</a:t>
            </a:r>
            <a:r>
              <a:rPr dirty="0" sz="1400" spc="160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ECECED"/>
                </a:solidFill>
                <a:latin typeface="Arial"/>
                <a:cs typeface="Arial"/>
              </a:rPr>
              <a:t>misreporting,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omission,</a:t>
            </a:r>
            <a:r>
              <a:rPr dirty="0" sz="1400" spc="95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or</a:t>
            </a:r>
            <a:r>
              <a:rPr dirty="0" sz="1400" spc="85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uncritical</a:t>
            </a:r>
            <a:r>
              <a:rPr dirty="0" sz="1400" spc="100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ECECED"/>
                </a:solidFill>
                <a:latin typeface="Arial"/>
                <a:cs typeface="Arial"/>
              </a:rPr>
              <a:t>reuse.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120561" y="2052637"/>
            <a:ext cx="5629275" cy="1733550"/>
          </a:xfrm>
          <a:prstGeom prst="rect">
            <a:avLst/>
          </a:prstGeom>
          <a:ln w="9524">
            <a:solidFill>
              <a:srgbClr val="9CA2AF"/>
            </a:solidFill>
          </a:ln>
        </p:spPr>
        <p:txBody>
          <a:bodyPr wrap="square" lIns="0" tIns="565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45"/>
              </a:spcBef>
            </a:pPr>
            <a:endParaRPr sz="1100">
              <a:latin typeface="Times New Roman"/>
              <a:cs typeface="Times New Roman"/>
            </a:endParaRPr>
          </a:p>
          <a:p>
            <a:pPr marL="233045">
              <a:lnSpc>
                <a:spcPct val="100000"/>
              </a:lnSpc>
              <a:tabLst>
                <a:tab pos="1235710" algn="l"/>
                <a:tab pos="2350135" algn="l"/>
              </a:tabLst>
            </a:pP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A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C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A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D</a:t>
            </a:r>
            <a:r>
              <a:rPr dirty="0" sz="11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E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M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I</a:t>
            </a:r>
            <a:r>
              <a:rPr dirty="0" sz="11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spc="-50" b="1">
                <a:solidFill>
                  <a:srgbClr val="B4FF38"/>
                </a:solidFill>
                <a:latin typeface="Courier New"/>
                <a:cs typeface="Courier New"/>
              </a:rPr>
              <a:t>C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	R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E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C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Y</a:t>
            </a:r>
            <a:r>
              <a:rPr dirty="0" sz="11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C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L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I</a:t>
            </a:r>
            <a:r>
              <a:rPr dirty="0" sz="11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N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spc="-50" b="1">
                <a:solidFill>
                  <a:srgbClr val="B4FF38"/>
                </a:solidFill>
                <a:latin typeface="Courier New"/>
                <a:cs typeface="Courier New"/>
              </a:rPr>
              <a:t>G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	L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O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B4FF38"/>
                </a:solidFill>
                <a:latin typeface="Courier New"/>
                <a:cs typeface="Courier New"/>
              </a:rPr>
              <a:t>O</a:t>
            </a:r>
            <a:r>
              <a:rPr dirty="0" sz="11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100" spc="-50" b="1">
                <a:solidFill>
                  <a:srgbClr val="B4FF38"/>
                </a:solidFill>
                <a:latin typeface="Courier New"/>
                <a:cs typeface="Courier New"/>
              </a:rPr>
              <a:t>P</a:t>
            </a:r>
            <a:endParaRPr sz="1100">
              <a:latin typeface="Courier New"/>
              <a:cs typeface="Courier New"/>
            </a:endParaRPr>
          </a:p>
          <a:p>
            <a:pPr marL="233045" marR="755650">
              <a:lnSpc>
                <a:spcPct val="114599"/>
              </a:lnSpc>
              <a:spcBef>
                <a:spcPts val="910"/>
              </a:spcBef>
            </a:pP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Tenure</a:t>
            </a:r>
            <a:r>
              <a:rPr dirty="0" sz="1400" spc="140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systems</a:t>
            </a:r>
            <a:r>
              <a:rPr dirty="0" sz="1400" spc="140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reward</a:t>
            </a:r>
            <a:r>
              <a:rPr dirty="0" sz="1400" spc="140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B4FF38"/>
                </a:solidFill>
                <a:latin typeface="Arial"/>
                <a:cs typeface="Arial"/>
              </a:rPr>
              <a:t>publication</a:t>
            </a:r>
            <a:r>
              <a:rPr dirty="0" sz="1400" spc="140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B4FF38"/>
                </a:solidFill>
                <a:latin typeface="Arial"/>
                <a:cs typeface="Arial"/>
              </a:rPr>
              <a:t>quantity</a:t>
            </a:r>
            <a:r>
              <a:rPr dirty="0" sz="1400" spc="140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400" spc="-25" b="1">
                <a:solidFill>
                  <a:srgbClr val="B4FF38"/>
                </a:solidFill>
                <a:latin typeface="Arial"/>
                <a:cs typeface="Arial"/>
              </a:rPr>
              <a:t>and </a:t>
            </a:r>
            <a:r>
              <a:rPr dirty="0" sz="1400" b="1">
                <a:solidFill>
                  <a:srgbClr val="B4FF38"/>
                </a:solidFill>
                <a:latin typeface="Arial"/>
                <a:cs typeface="Arial"/>
              </a:rPr>
              <a:t>theoretical novelty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, not data</a:t>
            </a:r>
            <a:r>
              <a:rPr dirty="0" sz="1400" spc="120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quality</a:t>
            </a:r>
            <a:r>
              <a:rPr dirty="0" sz="1400" spc="120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— creating</a:t>
            </a:r>
            <a:r>
              <a:rPr dirty="0" sz="1400" spc="120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a</a:t>
            </a:r>
            <a:r>
              <a:rPr dirty="0" sz="1400" spc="120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ECECED"/>
                </a:solidFill>
                <a:latin typeface="Arial"/>
                <a:cs typeface="Arial"/>
              </a:rPr>
              <a:t>self-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reinforcing</a:t>
            </a:r>
            <a:r>
              <a:rPr dirty="0" sz="1400" spc="140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cycle</a:t>
            </a:r>
            <a:r>
              <a:rPr dirty="0" sz="1400" spc="140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where</a:t>
            </a:r>
            <a:r>
              <a:rPr dirty="0" sz="1400" spc="140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flawed</a:t>
            </a:r>
            <a:r>
              <a:rPr dirty="0" sz="1400" spc="140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datasets</a:t>
            </a:r>
            <a:r>
              <a:rPr dirty="0" sz="1400" spc="140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gain</a:t>
            </a:r>
            <a:r>
              <a:rPr dirty="0" sz="1400" spc="140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ECECED"/>
                </a:solidFill>
                <a:latin typeface="Arial"/>
                <a:cs typeface="Arial"/>
              </a:rPr>
              <a:t>near-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canonical</a:t>
            </a:r>
            <a:r>
              <a:rPr dirty="0" sz="1400" spc="130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status</a:t>
            </a:r>
            <a:r>
              <a:rPr dirty="0" sz="1400" spc="210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ECECED"/>
                </a:solidFill>
                <a:latin typeface="Arial"/>
                <a:cs typeface="Arial"/>
              </a:rPr>
              <a:t>through</a:t>
            </a:r>
            <a:r>
              <a:rPr dirty="0" sz="1400" spc="204" b="1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ECECED"/>
                </a:solidFill>
                <a:latin typeface="Arial"/>
                <a:cs typeface="Arial"/>
              </a:rPr>
              <a:t>repetition.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3399" y="4352924"/>
            <a:ext cx="38100" cy="4343400"/>
          </a:xfrm>
          <a:custGeom>
            <a:avLst/>
            <a:gdLst/>
            <a:ahLst/>
            <a:cxnLst/>
            <a:rect l="l" t="t" r="r" b="b"/>
            <a:pathLst>
              <a:path w="38100" h="4343400">
                <a:moveTo>
                  <a:pt x="38099" y="4343399"/>
                </a:moveTo>
                <a:lnTo>
                  <a:pt x="0" y="4343399"/>
                </a:lnTo>
                <a:lnTo>
                  <a:pt x="0" y="0"/>
                </a:lnTo>
                <a:lnTo>
                  <a:pt x="38099" y="0"/>
                </a:lnTo>
                <a:lnTo>
                  <a:pt x="38099" y="4343399"/>
                </a:lnTo>
                <a:close/>
              </a:path>
            </a:pathLst>
          </a:custGeom>
          <a:solidFill>
            <a:srgbClr val="B4F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68349" y="4378325"/>
            <a:ext cx="13747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M</a:t>
            </a:r>
            <a:r>
              <a:rPr dirty="0" sz="12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E</a:t>
            </a:r>
            <a:r>
              <a:rPr dirty="0" sz="12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T</a:t>
            </a:r>
            <a:r>
              <a:rPr dirty="0" sz="12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H</a:t>
            </a:r>
            <a:r>
              <a:rPr dirty="0" sz="12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O</a:t>
            </a:r>
            <a:r>
              <a:rPr dirty="0" sz="12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D</a:t>
            </a:r>
            <a:r>
              <a:rPr dirty="0" sz="12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O</a:t>
            </a:r>
            <a:r>
              <a:rPr dirty="0" sz="12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L</a:t>
            </a:r>
            <a:r>
              <a:rPr dirty="0" sz="12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O</a:t>
            </a:r>
            <a:r>
              <a:rPr dirty="0" sz="12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G</a:t>
            </a:r>
            <a:r>
              <a:rPr dirty="0" sz="12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50" b="1">
                <a:solidFill>
                  <a:srgbClr val="B4FF38"/>
                </a:solidFill>
                <a:latin typeface="Courier New"/>
                <a:cs typeface="Courier New"/>
              </a:rPr>
              <a:t>Y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83600" y="4378325"/>
            <a:ext cx="11233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T</a:t>
            </a:r>
            <a:r>
              <a:rPr dirty="0" sz="12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A</a:t>
            </a:r>
            <a:r>
              <a:rPr dirty="0" sz="12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K</a:t>
            </a:r>
            <a:r>
              <a:rPr dirty="0" sz="12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E</a:t>
            </a:r>
            <a:r>
              <a:rPr dirty="0" sz="12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A</a:t>
            </a:r>
            <a:r>
              <a:rPr dirty="0" sz="12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W</a:t>
            </a:r>
            <a:r>
              <a:rPr dirty="0" sz="12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A</a:t>
            </a:r>
            <a:r>
              <a:rPr dirty="0" sz="1200" spc="-455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10" b="1">
                <a:solidFill>
                  <a:srgbClr val="B4FF38"/>
                </a:solidFill>
                <a:latin typeface="Courier New"/>
                <a:cs typeface="Courier New"/>
              </a:rPr>
              <a:t>Y</a:t>
            </a:r>
            <a:r>
              <a:rPr dirty="0" sz="1200" spc="-450" b="1">
                <a:solidFill>
                  <a:srgbClr val="B4FF38"/>
                </a:solidFill>
                <a:latin typeface="Courier New"/>
                <a:cs typeface="Courier New"/>
              </a:rPr>
              <a:t> </a:t>
            </a:r>
            <a:r>
              <a:rPr dirty="0" sz="1200" spc="-50" b="1">
                <a:solidFill>
                  <a:srgbClr val="B4FF38"/>
                </a:solidFill>
                <a:latin typeface="Courier New"/>
                <a:cs typeface="Courier New"/>
              </a:rPr>
              <a:t>S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496299" y="4762499"/>
            <a:ext cx="28575" cy="714375"/>
          </a:xfrm>
          <a:custGeom>
            <a:avLst/>
            <a:gdLst/>
            <a:ahLst/>
            <a:cxnLst/>
            <a:rect l="l" t="t" r="r" b="b"/>
            <a:pathLst>
              <a:path w="28575" h="714375">
                <a:moveTo>
                  <a:pt x="28574" y="714374"/>
                </a:moveTo>
                <a:lnTo>
                  <a:pt x="0" y="714374"/>
                </a:lnTo>
                <a:lnTo>
                  <a:pt x="0" y="0"/>
                </a:lnTo>
                <a:lnTo>
                  <a:pt x="28574" y="0"/>
                </a:lnTo>
                <a:lnTo>
                  <a:pt x="28574" y="714374"/>
                </a:lnTo>
                <a:close/>
              </a:path>
            </a:pathLst>
          </a:custGeom>
          <a:solidFill>
            <a:srgbClr val="B4FF38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645525" y="4708898"/>
            <a:ext cx="8679180" cy="72771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1100" spc="105" b="1">
                <a:solidFill>
                  <a:srgbClr val="B4FF38"/>
                </a:solidFill>
                <a:latin typeface="Arial"/>
                <a:cs typeface="Arial"/>
              </a:rPr>
              <a:t>INCENTIVES,</a:t>
            </a:r>
            <a:r>
              <a:rPr dirty="0" sz="1100" spc="22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100" spc="95" b="1">
                <a:solidFill>
                  <a:srgbClr val="B4FF38"/>
                </a:solidFill>
                <a:latin typeface="Arial"/>
                <a:cs typeface="Arial"/>
              </a:rPr>
              <a:t>NOT</a:t>
            </a:r>
            <a:r>
              <a:rPr dirty="0" sz="1100" spc="22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100" spc="110" b="1">
                <a:solidFill>
                  <a:srgbClr val="B4FF38"/>
                </a:solidFill>
                <a:latin typeface="Arial"/>
                <a:cs typeface="Arial"/>
              </a:rPr>
              <a:t>IGNORANCE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20000"/>
              </a:lnSpc>
              <a:spcBef>
                <a:spcPts val="180"/>
              </a:spcBef>
            </a:pP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Data</a:t>
            </a:r>
            <a:r>
              <a:rPr dirty="0" sz="1250" spc="-1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problems</a:t>
            </a:r>
            <a:r>
              <a:rPr dirty="0" sz="1250" spc="7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persist</a:t>
            </a:r>
            <a:r>
              <a:rPr dirty="0" sz="1250" spc="5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because</a:t>
            </a:r>
            <a:r>
              <a:rPr dirty="0" sz="1250" spc="-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B4FF38"/>
                </a:solidFill>
                <a:latin typeface="Arial"/>
                <a:cs typeface="Arial"/>
              </a:rPr>
              <a:t>incentive</a:t>
            </a:r>
            <a:r>
              <a:rPr dirty="0" sz="1250" spc="-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B4FF38"/>
                </a:solidFill>
                <a:latin typeface="Arial"/>
                <a:cs typeface="Arial"/>
              </a:rPr>
              <a:t>structures</a:t>
            </a:r>
            <a:r>
              <a:rPr dirty="0" sz="1250" spc="-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B4FF38"/>
                </a:solidFill>
                <a:latin typeface="Arial"/>
                <a:cs typeface="Arial"/>
              </a:rPr>
              <a:t>reward</a:t>
            </a:r>
            <a:r>
              <a:rPr dirty="0" sz="1250" spc="-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B4FF38"/>
                </a:solidFill>
                <a:latin typeface="Arial"/>
                <a:cs typeface="Arial"/>
              </a:rPr>
              <a:t>publication output</a:t>
            </a:r>
            <a:r>
              <a:rPr dirty="0" sz="1250" spc="5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B4FF38"/>
                </a:solidFill>
                <a:latin typeface="Arial"/>
                <a:cs typeface="Arial"/>
              </a:rPr>
              <a:t>over</a:t>
            </a:r>
            <a:r>
              <a:rPr dirty="0" sz="1250" spc="60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B4FF38"/>
                </a:solidFill>
                <a:latin typeface="Arial"/>
                <a:cs typeface="Arial"/>
              </a:rPr>
              <a:t>empirical</a:t>
            </a:r>
            <a:r>
              <a:rPr dirty="0" sz="1250" spc="50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B4FF38"/>
                </a:solidFill>
                <a:latin typeface="Arial"/>
                <a:cs typeface="Arial"/>
              </a:rPr>
              <a:t>rigor</a:t>
            </a:r>
            <a:r>
              <a:rPr dirty="0" sz="1250" spc="60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—</a:t>
            </a:r>
            <a:r>
              <a:rPr dirty="0" sz="1250" spc="3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treating</a:t>
            </a:r>
            <a:r>
              <a:rPr dirty="0" sz="1250" spc="-1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this</a:t>
            </a:r>
            <a:r>
              <a:rPr dirty="0" sz="1250" spc="7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 spc="-25">
                <a:solidFill>
                  <a:srgbClr val="ECECED"/>
                </a:solidFill>
                <a:latin typeface="Arial"/>
                <a:cs typeface="Arial"/>
              </a:rPr>
              <a:t>as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incompetence</a:t>
            </a:r>
            <a:r>
              <a:rPr dirty="0" sz="1250" spc="4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misses</a:t>
            </a:r>
            <a:r>
              <a:rPr dirty="0" sz="1250" spc="13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the</a:t>
            </a:r>
            <a:r>
              <a:rPr dirty="0" sz="1250" spc="4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structural</a:t>
            </a:r>
            <a:r>
              <a:rPr dirty="0" sz="1250" spc="10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ECECED"/>
                </a:solidFill>
                <a:latin typeface="Arial"/>
                <a:cs typeface="Arial"/>
              </a:rPr>
              <a:t>cause.</a:t>
            </a:r>
            <a:endParaRPr sz="12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496299" y="5819774"/>
            <a:ext cx="28575" cy="714375"/>
          </a:xfrm>
          <a:custGeom>
            <a:avLst/>
            <a:gdLst/>
            <a:ahLst/>
            <a:cxnLst/>
            <a:rect l="l" t="t" r="r" b="b"/>
            <a:pathLst>
              <a:path w="28575" h="714375">
                <a:moveTo>
                  <a:pt x="28574" y="714374"/>
                </a:moveTo>
                <a:lnTo>
                  <a:pt x="0" y="714374"/>
                </a:lnTo>
                <a:lnTo>
                  <a:pt x="0" y="0"/>
                </a:lnTo>
                <a:lnTo>
                  <a:pt x="28574" y="0"/>
                </a:lnTo>
                <a:lnTo>
                  <a:pt x="28574" y="714374"/>
                </a:lnTo>
                <a:close/>
              </a:path>
            </a:pathLst>
          </a:custGeom>
          <a:solidFill>
            <a:srgbClr val="B4FF38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645525" y="5757768"/>
            <a:ext cx="8487410" cy="74549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1100" b="1">
                <a:solidFill>
                  <a:srgbClr val="B4FF38"/>
                </a:solidFill>
                <a:latin typeface="Arial"/>
                <a:cs typeface="Arial"/>
              </a:rPr>
              <a:t>M</a:t>
            </a:r>
            <a:r>
              <a:rPr dirty="0" sz="1100" spc="-15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100" spc="105" b="1">
                <a:solidFill>
                  <a:srgbClr val="B4FF38"/>
                </a:solidFill>
                <a:latin typeface="Arial"/>
                <a:cs typeface="Arial"/>
              </a:rPr>
              <a:t>EASURES</a:t>
            </a:r>
            <a:r>
              <a:rPr dirty="0" sz="1100" spc="229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100" spc="110" b="1">
                <a:solidFill>
                  <a:srgbClr val="B4FF38"/>
                </a:solidFill>
                <a:latin typeface="Arial"/>
                <a:cs typeface="Arial"/>
              </a:rPr>
              <a:t>BECOM</a:t>
            </a:r>
            <a:r>
              <a:rPr dirty="0" sz="1100" spc="-15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B4FF38"/>
                </a:solidFill>
                <a:latin typeface="Arial"/>
                <a:cs typeface="Arial"/>
              </a:rPr>
              <a:t>E</a:t>
            </a:r>
            <a:r>
              <a:rPr dirty="0" sz="1100" spc="229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100" spc="75" b="1">
                <a:solidFill>
                  <a:srgbClr val="B4FF38"/>
                </a:solidFill>
                <a:latin typeface="Arial"/>
                <a:cs typeface="Arial"/>
              </a:rPr>
              <a:t>TARGETS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20000"/>
              </a:lnSpc>
              <a:spcBef>
                <a:spcPts val="254"/>
              </a:spcBef>
            </a:pP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When</a:t>
            </a:r>
            <a:r>
              <a:rPr dirty="0" sz="1250" spc="-1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data</a:t>
            </a:r>
            <a:r>
              <a:rPr dirty="0" sz="1250" spc="-1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serve</a:t>
            </a:r>
            <a:r>
              <a:rPr dirty="0" sz="1250" spc="-1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as</a:t>
            </a:r>
            <a:r>
              <a:rPr dirty="0" sz="1250" spc="6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both</a:t>
            </a:r>
            <a:r>
              <a:rPr dirty="0" sz="1250" spc="-1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measure</a:t>
            </a:r>
            <a:r>
              <a:rPr dirty="0" sz="1250" spc="-1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and</a:t>
            </a:r>
            <a:r>
              <a:rPr dirty="0" sz="1250" spc="-1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policy</a:t>
            </a:r>
            <a:r>
              <a:rPr dirty="0" sz="1250" spc="6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target,</a:t>
            </a:r>
            <a:r>
              <a:rPr dirty="0" sz="1250" spc="4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B4FF38"/>
                </a:solidFill>
                <a:latin typeface="Arial"/>
                <a:cs typeface="Arial"/>
              </a:rPr>
              <a:t>Goodhart's</a:t>
            </a:r>
            <a:r>
              <a:rPr dirty="0" sz="1250" spc="-1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B4FF38"/>
                </a:solidFill>
                <a:latin typeface="Arial"/>
                <a:cs typeface="Arial"/>
              </a:rPr>
              <a:t>Law</a:t>
            </a:r>
            <a:r>
              <a:rPr dirty="0" sz="1250" spc="10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B4FF38"/>
                </a:solidFill>
                <a:latin typeface="Arial"/>
                <a:cs typeface="Arial"/>
              </a:rPr>
              <a:t>predicts</a:t>
            </a:r>
            <a:r>
              <a:rPr dirty="0" sz="1250" spc="-1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B4FF38"/>
                </a:solidFill>
                <a:latin typeface="Arial"/>
                <a:cs typeface="Arial"/>
              </a:rPr>
              <a:t>systematic</a:t>
            </a:r>
            <a:r>
              <a:rPr dirty="0" sz="1250" spc="-10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B4FF38"/>
                </a:solidFill>
                <a:latin typeface="Arial"/>
                <a:cs typeface="Arial"/>
              </a:rPr>
              <a:t>distortion</a:t>
            </a:r>
            <a:r>
              <a:rPr dirty="0" sz="1250" spc="-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—</a:t>
            </a:r>
            <a:r>
              <a:rPr dirty="0" sz="1250" spc="2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China's</a:t>
            </a:r>
            <a:r>
              <a:rPr dirty="0" sz="1250" spc="6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 spc="-25">
                <a:solidFill>
                  <a:srgbClr val="ECECED"/>
                </a:solidFill>
                <a:latin typeface="Arial"/>
                <a:cs typeface="Arial"/>
              </a:rPr>
              <a:t>GDP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reporting</a:t>
            </a:r>
            <a:r>
              <a:rPr dirty="0" sz="1250" spc="2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and</a:t>
            </a:r>
            <a:r>
              <a:rPr dirty="0" sz="1250" spc="2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IMF</a:t>
            </a:r>
            <a:r>
              <a:rPr dirty="0" sz="1250" spc="2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deficit</a:t>
            </a:r>
            <a:r>
              <a:rPr dirty="0" sz="1250" spc="8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tracking</a:t>
            </a:r>
            <a:r>
              <a:rPr dirty="0" sz="1250" spc="2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are</a:t>
            </a:r>
            <a:r>
              <a:rPr dirty="0" sz="1250" spc="2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ECECED"/>
                </a:solidFill>
                <a:latin typeface="Arial"/>
                <a:cs typeface="Arial"/>
              </a:rPr>
              <a:t>documented</a:t>
            </a:r>
            <a:r>
              <a:rPr dirty="0" sz="1250" spc="2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ECECED"/>
                </a:solidFill>
                <a:latin typeface="Arial"/>
                <a:cs typeface="Arial"/>
              </a:rPr>
              <a:t>cases.</a:t>
            </a:r>
            <a:endParaRPr sz="12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496299" y="6886574"/>
            <a:ext cx="28575" cy="714375"/>
          </a:xfrm>
          <a:custGeom>
            <a:avLst/>
            <a:gdLst/>
            <a:ahLst/>
            <a:cxnLst/>
            <a:rect l="l" t="t" r="r" b="b"/>
            <a:pathLst>
              <a:path w="28575" h="714375">
                <a:moveTo>
                  <a:pt x="28574" y="714374"/>
                </a:moveTo>
                <a:lnTo>
                  <a:pt x="0" y="714374"/>
                </a:lnTo>
                <a:lnTo>
                  <a:pt x="0" y="0"/>
                </a:lnTo>
                <a:lnTo>
                  <a:pt x="28574" y="0"/>
                </a:lnTo>
                <a:lnTo>
                  <a:pt x="28574" y="714374"/>
                </a:lnTo>
                <a:close/>
              </a:path>
            </a:pathLst>
          </a:custGeom>
          <a:solidFill>
            <a:srgbClr val="B4FF38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8645525" y="6832972"/>
            <a:ext cx="8652510" cy="72771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1100" spc="80" b="1">
                <a:solidFill>
                  <a:srgbClr val="B4FF38"/>
                </a:solidFill>
                <a:latin typeface="Arial"/>
                <a:cs typeface="Arial"/>
              </a:rPr>
              <a:t>LDC</a:t>
            </a:r>
            <a:r>
              <a:rPr dirty="0" sz="1100" spc="30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B4FF38"/>
                </a:solidFill>
                <a:latin typeface="Arial"/>
                <a:cs typeface="Arial"/>
              </a:rPr>
              <a:t>DATA</a:t>
            </a:r>
            <a:r>
              <a:rPr dirty="0" sz="1100" spc="30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100" spc="70" b="1">
                <a:solidFill>
                  <a:srgbClr val="B4FF38"/>
                </a:solidFill>
                <a:latin typeface="Arial"/>
                <a:cs typeface="Arial"/>
              </a:rPr>
              <a:t>GAP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20000"/>
              </a:lnSpc>
              <a:spcBef>
                <a:spcPts val="180"/>
              </a:spcBef>
            </a:pP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Pooling</a:t>
            </a:r>
            <a:r>
              <a:rPr dirty="0" sz="1250" spc="-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B4FF38"/>
                </a:solidFill>
                <a:latin typeface="Arial"/>
                <a:cs typeface="Arial"/>
              </a:rPr>
              <a:t>OECD</a:t>
            </a:r>
            <a:r>
              <a:rPr dirty="0" sz="1250" spc="1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B4FF38"/>
                </a:solidFill>
                <a:latin typeface="Arial"/>
                <a:cs typeface="Arial"/>
              </a:rPr>
              <a:t>and</a:t>
            </a:r>
            <a:r>
              <a:rPr dirty="0" sz="1250" spc="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250" spc="-10" b="1">
                <a:solidFill>
                  <a:srgbClr val="B4FF38"/>
                </a:solidFill>
                <a:latin typeface="Arial"/>
                <a:cs typeface="Arial"/>
              </a:rPr>
              <a:t>developing-</a:t>
            </a:r>
            <a:r>
              <a:rPr dirty="0" sz="1250" b="1">
                <a:solidFill>
                  <a:srgbClr val="B4FF38"/>
                </a:solidFill>
                <a:latin typeface="Arial"/>
                <a:cs typeface="Arial"/>
              </a:rPr>
              <a:t>country data</a:t>
            </a:r>
            <a:r>
              <a:rPr dirty="0" sz="1250" spc="-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in cross-national</a:t>
            </a:r>
            <a:r>
              <a:rPr dirty="0" sz="1250" spc="5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regressions</a:t>
            </a:r>
            <a:r>
              <a:rPr dirty="0" sz="1250" spc="7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introduces</a:t>
            </a:r>
            <a:r>
              <a:rPr dirty="0" sz="1250" spc="7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correlated measurement</a:t>
            </a:r>
            <a:r>
              <a:rPr dirty="0" sz="1250" spc="5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error</a:t>
            </a:r>
            <a:r>
              <a:rPr dirty="0" sz="1250" spc="6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 spc="-20">
                <a:solidFill>
                  <a:srgbClr val="ECECED"/>
                </a:solidFill>
                <a:latin typeface="Arial"/>
                <a:cs typeface="Arial"/>
              </a:rPr>
              <a:t>that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biases</a:t>
            </a:r>
            <a:r>
              <a:rPr dirty="0" sz="1250" spc="7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coefficients</a:t>
            </a:r>
            <a:r>
              <a:rPr dirty="0" sz="1250" spc="8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—</a:t>
            </a:r>
            <a:r>
              <a:rPr dirty="0" sz="1250" spc="4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often in</a:t>
            </a:r>
            <a:r>
              <a:rPr dirty="0" sz="1250" spc="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ways</a:t>
            </a:r>
            <a:r>
              <a:rPr dirty="0" sz="1250" spc="8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that</a:t>
            </a:r>
            <a:r>
              <a:rPr dirty="0" sz="1250" spc="5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are</a:t>
            </a:r>
            <a:r>
              <a:rPr dirty="0" sz="1250" spc="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hard to</a:t>
            </a:r>
            <a:r>
              <a:rPr dirty="0" sz="1250" spc="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detect</a:t>
            </a:r>
            <a:r>
              <a:rPr dirty="0" sz="1250" spc="5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or</a:t>
            </a:r>
            <a:r>
              <a:rPr dirty="0" sz="1250" spc="6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ECECED"/>
                </a:solidFill>
                <a:latin typeface="Arial"/>
                <a:cs typeface="Arial"/>
              </a:rPr>
              <a:t>correct.</a:t>
            </a:r>
            <a:endParaRPr sz="12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496299" y="7943849"/>
            <a:ext cx="28575" cy="714375"/>
          </a:xfrm>
          <a:custGeom>
            <a:avLst/>
            <a:gdLst/>
            <a:ahLst/>
            <a:cxnLst/>
            <a:rect l="l" t="t" r="r" b="b"/>
            <a:pathLst>
              <a:path w="28575" h="714375">
                <a:moveTo>
                  <a:pt x="28574" y="714374"/>
                </a:moveTo>
                <a:lnTo>
                  <a:pt x="0" y="714374"/>
                </a:lnTo>
                <a:lnTo>
                  <a:pt x="0" y="0"/>
                </a:lnTo>
                <a:lnTo>
                  <a:pt x="28574" y="0"/>
                </a:lnTo>
                <a:lnTo>
                  <a:pt x="28574" y="714374"/>
                </a:lnTo>
                <a:close/>
              </a:path>
            </a:pathLst>
          </a:custGeom>
          <a:solidFill>
            <a:srgbClr val="B4FF38">
              <a:alpha val="4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8645525" y="7881843"/>
            <a:ext cx="9079230" cy="74549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1100" spc="110" b="1">
                <a:solidFill>
                  <a:srgbClr val="B4FF38"/>
                </a:solidFill>
                <a:latin typeface="Arial"/>
                <a:cs typeface="Arial"/>
              </a:rPr>
              <a:t>INSTITUTIONAL</a:t>
            </a:r>
            <a:r>
              <a:rPr dirty="0" sz="1100" spc="210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100" spc="110" b="1">
                <a:solidFill>
                  <a:srgbClr val="B4FF38"/>
                </a:solidFill>
                <a:latin typeface="Arial"/>
                <a:cs typeface="Arial"/>
              </a:rPr>
              <a:t>REFORM</a:t>
            </a:r>
            <a:r>
              <a:rPr dirty="0" sz="1100" spc="-15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B4FF38"/>
                </a:solidFill>
                <a:latin typeface="Arial"/>
                <a:cs typeface="Arial"/>
              </a:rPr>
              <a:t>S</a:t>
            </a:r>
            <a:r>
              <a:rPr dirty="0" sz="1100" spc="220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100" spc="90" b="1">
                <a:solidFill>
                  <a:srgbClr val="B4FF38"/>
                </a:solidFill>
                <a:latin typeface="Arial"/>
                <a:cs typeface="Arial"/>
              </a:rPr>
              <a:t>NEEDED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20000"/>
              </a:lnSpc>
              <a:spcBef>
                <a:spcPts val="254"/>
              </a:spcBef>
            </a:pP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Journals</a:t>
            </a:r>
            <a:r>
              <a:rPr dirty="0" sz="1250" spc="6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ECECED"/>
                </a:solidFill>
                <a:latin typeface="Arial"/>
                <a:cs typeface="Arial"/>
              </a:rPr>
              <a:t>mandating</a:t>
            </a:r>
            <a:r>
              <a:rPr dirty="0" sz="1250" spc="-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B4FF38"/>
                </a:solidFill>
                <a:latin typeface="Arial"/>
                <a:cs typeface="Arial"/>
              </a:rPr>
              <a:t>data</a:t>
            </a:r>
            <a:r>
              <a:rPr dirty="0" sz="1250" spc="-10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250" spc="-20" b="1">
                <a:solidFill>
                  <a:srgbClr val="B4FF38"/>
                </a:solidFill>
                <a:latin typeface="Arial"/>
                <a:cs typeface="Arial"/>
              </a:rPr>
              <a:t>transparency,</a:t>
            </a:r>
            <a:r>
              <a:rPr dirty="0" sz="1250" spc="50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B4FF38"/>
                </a:solidFill>
                <a:latin typeface="Arial"/>
                <a:cs typeface="Arial"/>
              </a:rPr>
              <a:t>error-correction</a:t>
            </a:r>
            <a:r>
              <a:rPr dirty="0" sz="1250" spc="-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250" spc="-10" b="1">
                <a:solidFill>
                  <a:srgbClr val="B4FF38"/>
                </a:solidFill>
                <a:latin typeface="Arial"/>
                <a:cs typeface="Arial"/>
              </a:rPr>
              <a:t>mechanisms,</a:t>
            </a:r>
            <a:r>
              <a:rPr dirty="0" sz="1250" spc="50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B4FF38"/>
                </a:solidFill>
                <a:latin typeface="Arial"/>
                <a:cs typeface="Arial"/>
              </a:rPr>
              <a:t>and</a:t>
            </a:r>
            <a:r>
              <a:rPr dirty="0" sz="1250" spc="-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250" spc="-10" b="1">
                <a:solidFill>
                  <a:srgbClr val="B4FF38"/>
                </a:solidFill>
                <a:latin typeface="Arial"/>
                <a:cs typeface="Arial"/>
              </a:rPr>
              <a:t>APSA-</a:t>
            </a:r>
            <a:r>
              <a:rPr dirty="0" sz="1250" b="1">
                <a:solidFill>
                  <a:srgbClr val="B4FF38"/>
                </a:solidFill>
                <a:latin typeface="Arial"/>
                <a:cs typeface="Arial"/>
              </a:rPr>
              <a:t>led partnerships</a:t>
            </a:r>
            <a:r>
              <a:rPr dirty="0" sz="1250" spc="-10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ECECED"/>
                </a:solidFill>
                <a:latin typeface="Arial"/>
                <a:cs typeface="Arial"/>
              </a:rPr>
              <a:t>between</a:t>
            </a:r>
            <a:r>
              <a:rPr dirty="0" sz="1250" spc="-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area</a:t>
            </a:r>
            <a:r>
              <a:rPr dirty="0" sz="1250" spc="-10">
                <a:solidFill>
                  <a:srgbClr val="ECECED"/>
                </a:solidFill>
                <a:latin typeface="Arial"/>
                <a:cs typeface="Arial"/>
              </a:rPr>
              <a:t> specialists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and</a:t>
            </a:r>
            <a:r>
              <a:rPr dirty="0" sz="1250" spc="-1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methodologists</a:t>
            </a:r>
            <a:r>
              <a:rPr dirty="0" sz="1250" spc="7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are</a:t>
            </a:r>
            <a:r>
              <a:rPr dirty="0" sz="1250" spc="-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the</a:t>
            </a:r>
            <a:r>
              <a:rPr dirty="0" sz="1250" spc="-1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highest-leverage</a:t>
            </a:r>
            <a:r>
              <a:rPr dirty="0" sz="1250" spc="-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ECECED"/>
                </a:solidFill>
                <a:latin typeface="Arial"/>
                <a:cs typeface="Arial"/>
              </a:rPr>
              <a:t>fixes</a:t>
            </a:r>
            <a:r>
              <a:rPr dirty="0" sz="1250" spc="7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ECECED"/>
                </a:solidFill>
                <a:latin typeface="Arial"/>
                <a:cs typeface="Arial"/>
              </a:rPr>
              <a:t>available.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33399" y="9258299"/>
            <a:ext cx="17221200" cy="685800"/>
            <a:chOff x="533399" y="9258299"/>
            <a:chExt cx="17221200" cy="685800"/>
          </a:xfrm>
        </p:grpSpPr>
        <p:sp>
          <p:nvSpPr>
            <p:cNvPr id="23" name="object 23"/>
            <p:cNvSpPr/>
            <p:nvPr/>
          </p:nvSpPr>
          <p:spPr>
            <a:xfrm>
              <a:off x="609599" y="9258299"/>
              <a:ext cx="17145000" cy="685800"/>
            </a:xfrm>
            <a:custGeom>
              <a:avLst/>
              <a:gdLst/>
              <a:ahLst/>
              <a:cxnLst/>
              <a:rect l="l" t="t" r="r" b="b"/>
              <a:pathLst>
                <a:path w="17145000" h="685800">
                  <a:moveTo>
                    <a:pt x="0" y="685799"/>
                  </a:moveTo>
                  <a:lnTo>
                    <a:pt x="17144998" y="685799"/>
                  </a:lnTo>
                  <a:lnTo>
                    <a:pt x="17144998" y="0"/>
                  </a:lnTo>
                  <a:lnTo>
                    <a:pt x="0" y="0"/>
                  </a:lnTo>
                  <a:lnTo>
                    <a:pt x="0" y="685799"/>
                  </a:lnTo>
                  <a:close/>
                </a:path>
              </a:pathLst>
            </a:custGeom>
            <a:solidFill>
              <a:srgbClr val="ECEC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33399" y="9258299"/>
              <a:ext cx="76200" cy="685800"/>
            </a:xfrm>
            <a:custGeom>
              <a:avLst/>
              <a:gdLst/>
              <a:ahLst/>
              <a:cxnLst/>
              <a:rect l="l" t="t" r="r" b="b"/>
              <a:pathLst>
                <a:path w="76200" h="685800">
                  <a:moveTo>
                    <a:pt x="76199" y="685799"/>
                  </a:moveTo>
                  <a:lnTo>
                    <a:pt x="0" y="685799"/>
                  </a:lnTo>
                  <a:lnTo>
                    <a:pt x="0" y="0"/>
                  </a:lnTo>
                  <a:lnTo>
                    <a:pt x="76199" y="0"/>
                  </a:lnTo>
                  <a:lnTo>
                    <a:pt x="76199" y="685799"/>
                  </a:lnTo>
                  <a:close/>
                </a:path>
              </a:pathLst>
            </a:custGeom>
            <a:solidFill>
              <a:srgbClr val="B4FF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901700" y="9464675"/>
            <a:ext cx="14701519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17181B"/>
                </a:solidFill>
                <a:latin typeface="Arial"/>
                <a:cs typeface="Arial"/>
              </a:rPr>
              <a:t>Apply</a:t>
            </a:r>
            <a:r>
              <a:rPr dirty="0" sz="1500" spc="-50" b="1">
                <a:solidFill>
                  <a:srgbClr val="17181B"/>
                </a:solidFill>
                <a:latin typeface="Arial"/>
                <a:cs typeface="Arial"/>
              </a:rPr>
              <a:t> </a:t>
            </a:r>
            <a:r>
              <a:rPr dirty="0" u="sng" sz="1500" b="1">
                <a:solidFill>
                  <a:srgbClr val="17181B"/>
                </a:solidFill>
                <a:uFill>
                  <a:solidFill>
                    <a:srgbClr val="B4FF38"/>
                  </a:solidFill>
                </a:uFill>
                <a:latin typeface="Arial"/>
                <a:cs typeface="Arial"/>
              </a:rPr>
              <a:t>smell-test</a:t>
            </a:r>
            <a:r>
              <a:rPr dirty="0" u="sng" sz="1500" spc="-10" b="1">
                <a:solidFill>
                  <a:srgbClr val="17181B"/>
                </a:solidFill>
                <a:uFill>
                  <a:solidFill>
                    <a:srgbClr val="B4FF38"/>
                  </a:solidFill>
                </a:uFill>
                <a:latin typeface="Arial"/>
                <a:cs typeface="Arial"/>
              </a:rPr>
              <a:t> questions</a:t>
            </a:r>
            <a:r>
              <a:rPr dirty="0" u="none" sz="1500" spc="-45" b="1">
                <a:solidFill>
                  <a:srgbClr val="17181B"/>
                </a:solidFill>
                <a:latin typeface="Arial"/>
                <a:cs typeface="Arial"/>
              </a:rPr>
              <a:t> </a:t>
            </a:r>
            <a:r>
              <a:rPr dirty="0" u="none" sz="1500" b="1">
                <a:solidFill>
                  <a:srgbClr val="17181B"/>
                </a:solidFill>
                <a:latin typeface="Arial"/>
                <a:cs typeface="Arial"/>
              </a:rPr>
              <a:t>—</a:t>
            </a:r>
            <a:r>
              <a:rPr dirty="0" u="none" sz="1500" spc="-35" b="1">
                <a:solidFill>
                  <a:srgbClr val="17181B"/>
                </a:solidFill>
                <a:latin typeface="Arial"/>
                <a:cs typeface="Arial"/>
              </a:rPr>
              <a:t> </a:t>
            </a:r>
            <a:r>
              <a:rPr dirty="0" u="none" sz="1500" b="1">
                <a:solidFill>
                  <a:srgbClr val="17181B"/>
                </a:solidFill>
                <a:latin typeface="Arial"/>
                <a:cs typeface="Arial"/>
              </a:rPr>
              <a:t>who</a:t>
            </a:r>
            <a:r>
              <a:rPr dirty="0" u="none" sz="1500" spc="-50" b="1">
                <a:solidFill>
                  <a:srgbClr val="17181B"/>
                </a:solidFill>
                <a:latin typeface="Arial"/>
                <a:cs typeface="Arial"/>
              </a:rPr>
              <a:t> </a:t>
            </a:r>
            <a:r>
              <a:rPr dirty="0" u="none" sz="1500" spc="-10" b="1">
                <a:solidFill>
                  <a:srgbClr val="17181B"/>
                </a:solidFill>
                <a:latin typeface="Arial"/>
                <a:cs typeface="Arial"/>
              </a:rPr>
              <a:t>produced</a:t>
            </a:r>
            <a:r>
              <a:rPr dirty="0" u="none" sz="1500" spc="-50" b="1">
                <a:solidFill>
                  <a:srgbClr val="17181B"/>
                </a:solidFill>
                <a:latin typeface="Arial"/>
                <a:cs typeface="Arial"/>
              </a:rPr>
              <a:t> </a:t>
            </a:r>
            <a:r>
              <a:rPr dirty="0" u="none" sz="1500" b="1">
                <a:solidFill>
                  <a:srgbClr val="17181B"/>
                </a:solidFill>
                <a:latin typeface="Arial"/>
                <a:cs typeface="Arial"/>
              </a:rPr>
              <a:t>the</a:t>
            </a:r>
            <a:r>
              <a:rPr dirty="0" u="none" sz="1500" spc="-45" b="1">
                <a:solidFill>
                  <a:srgbClr val="17181B"/>
                </a:solidFill>
                <a:latin typeface="Arial"/>
                <a:cs typeface="Arial"/>
              </a:rPr>
              <a:t> </a:t>
            </a:r>
            <a:r>
              <a:rPr dirty="0" u="none" sz="1500" b="1">
                <a:solidFill>
                  <a:srgbClr val="17181B"/>
                </a:solidFill>
                <a:latin typeface="Arial"/>
                <a:cs typeface="Arial"/>
              </a:rPr>
              <a:t>data,</a:t>
            </a:r>
            <a:r>
              <a:rPr dirty="0" u="none" sz="1500" spc="-5" b="1">
                <a:solidFill>
                  <a:srgbClr val="17181B"/>
                </a:solidFill>
                <a:latin typeface="Arial"/>
                <a:cs typeface="Arial"/>
              </a:rPr>
              <a:t> </a:t>
            </a:r>
            <a:r>
              <a:rPr dirty="0" u="none" sz="1500" b="1">
                <a:solidFill>
                  <a:srgbClr val="17181B"/>
                </a:solidFill>
                <a:latin typeface="Arial"/>
                <a:cs typeface="Arial"/>
              </a:rPr>
              <a:t>under</a:t>
            </a:r>
            <a:r>
              <a:rPr dirty="0" u="none" sz="1500" spc="-20" b="1">
                <a:solidFill>
                  <a:srgbClr val="17181B"/>
                </a:solidFill>
                <a:latin typeface="Arial"/>
                <a:cs typeface="Arial"/>
              </a:rPr>
              <a:t> </a:t>
            </a:r>
            <a:r>
              <a:rPr dirty="0" u="none" sz="1500" b="1">
                <a:solidFill>
                  <a:srgbClr val="17181B"/>
                </a:solidFill>
                <a:latin typeface="Arial"/>
                <a:cs typeface="Arial"/>
              </a:rPr>
              <a:t>what</a:t>
            </a:r>
            <a:r>
              <a:rPr dirty="0" u="none" sz="1500" spc="-15" b="1">
                <a:solidFill>
                  <a:srgbClr val="17181B"/>
                </a:solidFill>
                <a:latin typeface="Arial"/>
                <a:cs typeface="Arial"/>
              </a:rPr>
              <a:t> </a:t>
            </a:r>
            <a:r>
              <a:rPr dirty="0" u="none" sz="1500" b="1">
                <a:solidFill>
                  <a:srgbClr val="17181B"/>
                </a:solidFill>
                <a:latin typeface="Arial"/>
                <a:cs typeface="Arial"/>
              </a:rPr>
              <a:t>incentives,</a:t>
            </a:r>
            <a:r>
              <a:rPr dirty="0" u="none" sz="1500" spc="-5" b="1">
                <a:solidFill>
                  <a:srgbClr val="17181B"/>
                </a:solidFill>
                <a:latin typeface="Arial"/>
                <a:cs typeface="Arial"/>
              </a:rPr>
              <a:t> </a:t>
            </a:r>
            <a:r>
              <a:rPr dirty="0" u="none" sz="1500" b="1">
                <a:solidFill>
                  <a:srgbClr val="17181B"/>
                </a:solidFill>
                <a:latin typeface="Arial"/>
                <a:cs typeface="Arial"/>
              </a:rPr>
              <a:t>and</a:t>
            </a:r>
            <a:r>
              <a:rPr dirty="0" u="none" sz="1500" spc="-50" b="1">
                <a:solidFill>
                  <a:srgbClr val="17181B"/>
                </a:solidFill>
                <a:latin typeface="Arial"/>
                <a:cs typeface="Arial"/>
              </a:rPr>
              <a:t> </a:t>
            </a:r>
            <a:r>
              <a:rPr dirty="0" u="none" sz="1500" b="1">
                <a:solidFill>
                  <a:srgbClr val="17181B"/>
                </a:solidFill>
                <a:latin typeface="Arial"/>
                <a:cs typeface="Arial"/>
              </a:rPr>
              <a:t>for</a:t>
            </a:r>
            <a:r>
              <a:rPr dirty="0" u="none" sz="1500" spc="-25" b="1">
                <a:solidFill>
                  <a:srgbClr val="17181B"/>
                </a:solidFill>
                <a:latin typeface="Arial"/>
                <a:cs typeface="Arial"/>
              </a:rPr>
              <a:t> </a:t>
            </a:r>
            <a:r>
              <a:rPr dirty="0" u="none" sz="1500" b="1">
                <a:solidFill>
                  <a:srgbClr val="17181B"/>
                </a:solidFill>
                <a:latin typeface="Arial"/>
                <a:cs typeface="Arial"/>
              </a:rPr>
              <a:t>what</a:t>
            </a:r>
            <a:r>
              <a:rPr dirty="0" u="none" sz="1500" spc="-15" b="1">
                <a:solidFill>
                  <a:srgbClr val="17181B"/>
                </a:solidFill>
                <a:latin typeface="Arial"/>
                <a:cs typeface="Arial"/>
              </a:rPr>
              <a:t> </a:t>
            </a:r>
            <a:r>
              <a:rPr dirty="0" u="none" sz="1500" b="1">
                <a:solidFill>
                  <a:srgbClr val="17181B"/>
                </a:solidFill>
                <a:latin typeface="Arial"/>
                <a:cs typeface="Arial"/>
              </a:rPr>
              <a:t>principals</a:t>
            </a:r>
            <a:r>
              <a:rPr dirty="0" u="none" sz="1500" spc="-45" b="1">
                <a:solidFill>
                  <a:srgbClr val="17181B"/>
                </a:solidFill>
                <a:latin typeface="Arial"/>
                <a:cs typeface="Arial"/>
              </a:rPr>
              <a:t> </a:t>
            </a:r>
            <a:r>
              <a:rPr dirty="0" u="none" sz="1500" b="1">
                <a:solidFill>
                  <a:srgbClr val="17181B"/>
                </a:solidFill>
                <a:latin typeface="Arial"/>
                <a:cs typeface="Arial"/>
              </a:rPr>
              <a:t>—</a:t>
            </a:r>
            <a:r>
              <a:rPr dirty="0" u="none" sz="1500" spc="-35" b="1">
                <a:solidFill>
                  <a:srgbClr val="17181B"/>
                </a:solidFill>
                <a:latin typeface="Arial"/>
                <a:cs typeface="Arial"/>
              </a:rPr>
              <a:t> </a:t>
            </a:r>
            <a:r>
              <a:rPr dirty="0" u="none" sz="1500" b="1">
                <a:solidFill>
                  <a:srgbClr val="17181B"/>
                </a:solidFill>
                <a:latin typeface="Arial"/>
                <a:cs typeface="Arial"/>
              </a:rPr>
              <a:t>before</a:t>
            </a:r>
            <a:r>
              <a:rPr dirty="0" u="none" sz="1500" spc="-45" b="1">
                <a:solidFill>
                  <a:srgbClr val="17181B"/>
                </a:solidFill>
                <a:latin typeface="Arial"/>
                <a:cs typeface="Arial"/>
              </a:rPr>
              <a:t> </a:t>
            </a:r>
            <a:r>
              <a:rPr dirty="0" u="none" sz="1500" b="1">
                <a:solidFill>
                  <a:srgbClr val="17181B"/>
                </a:solidFill>
                <a:latin typeface="Arial"/>
                <a:cs typeface="Arial"/>
              </a:rPr>
              <a:t>using</a:t>
            </a:r>
            <a:r>
              <a:rPr dirty="0" u="none" sz="1500" spc="-50" b="1">
                <a:solidFill>
                  <a:srgbClr val="17181B"/>
                </a:solidFill>
                <a:latin typeface="Arial"/>
                <a:cs typeface="Arial"/>
              </a:rPr>
              <a:t> </a:t>
            </a:r>
            <a:r>
              <a:rPr dirty="0" u="none" sz="1500" b="1">
                <a:solidFill>
                  <a:srgbClr val="17181B"/>
                </a:solidFill>
                <a:latin typeface="Arial"/>
                <a:cs typeface="Arial"/>
              </a:rPr>
              <a:t>any</a:t>
            </a:r>
            <a:r>
              <a:rPr dirty="0" u="none" sz="1500" spc="-45" b="1">
                <a:solidFill>
                  <a:srgbClr val="17181B"/>
                </a:solidFill>
                <a:latin typeface="Arial"/>
                <a:cs typeface="Arial"/>
              </a:rPr>
              <a:t> </a:t>
            </a:r>
            <a:r>
              <a:rPr dirty="0" u="none" sz="1500" spc="-25" b="1">
                <a:solidFill>
                  <a:srgbClr val="17181B"/>
                </a:solidFill>
                <a:latin typeface="Arial"/>
                <a:cs typeface="Arial"/>
              </a:rPr>
              <a:t>cross-</a:t>
            </a:r>
            <a:r>
              <a:rPr dirty="0" u="none" sz="1500" b="1">
                <a:solidFill>
                  <a:srgbClr val="17181B"/>
                </a:solidFill>
                <a:latin typeface="Arial"/>
                <a:cs typeface="Arial"/>
              </a:rPr>
              <a:t>national</a:t>
            </a:r>
            <a:r>
              <a:rPr dirty="0" u="none" sz="1500" spc="-5" b="1">
                <a:solidFill>
                  <a:srgbClr val="17181B"/>
                </a:solidFill>
                <a:latin typeface="Arial"/>
                <a:cs typeface="Arial"/>
              </a:rPr>
              <a:t> </a:t>
            </a:r>
            <a:r>
              <a:rPr dirty="0" u="none" sz="1500" b="1">
                <a:solidFill>
                  <a:srgbClr val="17181B"/>
                </a:solidFill>
                <a:latin typeface="Arial"/>
                <a:cs typeface="Arial"/>
              </a:rPr>
              <a:t>dataset</a:t>
            </a:r>
            <a:r>
              <a:rPr dirty="0" u="none" sz="1500" spc="-15" b="1">
                <a:solidFill>
                  <a:srgbClr val="17181B"/>
                </a:solidFill>
                <a:latin typeface="Arial"/>
                <a:cs typeface="Arial"/>
              </a:rPr>
              <a:t> </a:t>
            </a:r>
            <a:r>
              <a:rPr dirty="0" u="none" sz="1500" b="1">
                <a:solidFill>
                  <a:srgbClr val="17181B"/>
                </a:solidFill>
                <a:latin typeface="Arial"/>
                <a:cs typeface="Arial"/>
              </a:rPr>
              <a:t>in</a:t>
            </a:r>
            <a:r>
              <a:rPr dirty="0" u="none" sz="1500" spc="-50" b="1">
                <a:solidFill>
                  <a:srgbClr val="17181B"/>
                </a:solidFill>
                <a:latin typeface="Arial"/>
                <a:cs typeface="Arial"/>
              </a:rPr>
              <a:t> </a:t>
            </a:r>
            <a:r>
              <a:rPr dirty="0" u="none" sz="1500" b="1">
                <a:solidFill>
                  <a:srgbClr val="17181B"/>
                </a:solidFill>
                <a:latin typeface="Arial"/>
                <a:cs typeface="Arial"/>
              </a:rPr>
              <a:t>published</a:t>
            </a:r>
            <a:r>
              <a:rPr dirty="0" u="none" sz="1500" spc="-50" b="1">
                <a:solidFill>
                  <a:srgbClr val="17181B"/>
                </a:solidFill>
                <a:latin typeface="Arial"/>
                <a:cs typeface="Arial"/>
              </a:rPr>
              <a:t> </a:t>
            </a:r>
            <a:r>
              <a:rPr dirty="0" u="none" sz="1500" spc="-20" b="1">
                <a:solidFill>
                  <a:srgbClr val="17181B"/>
                </a:solidFill>
                <a:latin typeface="Arial"/>
                <a:cs typeface="Arial"/>
              </a:rPr>
              <a:t>work.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049" y="4829174"/>
            <a:ext cx="66675" cy="6667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049" y="5619749"/>
            <a:ext cx="66675" cy="6667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049" y="6419849"/>
            <a:ext cx="66675" cy="66674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049" y="7210424"/>
            <a:ext cx="66675" cy="66674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958850" y="4726939"/>
            <a:ext cx="7293609" cy="3921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81305">
              <a:lnSpc>
                <a:spcPct val="115700"/>
              </a:lnSpc>
              <a:spcBef>
                <a:spcPts val="100"/>
              </a:spcBef>
            </a:pPr>
            <a:r>
              <a:rPr dirty="0" sz="1350" b="1">
                <a:solidFill>
                  <a:srgbClr val="B4FF38"/>
                </a:solidFill>
                <a:latin typeface="Arial"/>
                <a:cs typeface="Arial"/>
              </a:rPr>
              <a:t>Conceptual</a:t>
            </a:r>
            <a:r>
              <a:rPr dirty="0" sz="1350" spc="-3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FF38"/>
                </a:solidFill>
                <a:latin typeface="Arial"/>
                <a:cs typeface="Arial"/>
              </a:rPr>
              <a:t>framework</a:t>
            </a:r>
            <a:r>
              <a:rPr dirty="0" sz="1350" spc="-30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built</a:t>
            </a:r>
            <a:r>
              <a:rPr dirty="0" sz="1350" spc="-3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around</a:t>
            </a:r>
            <a:r>
              <a:rPr dirty="0" sz="1350" spc="-3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three</a:t>
            </a:r>
            <a:r>
              <a:rPr dirty="0" sz="1350" spc="-3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quality</a:t>
            </a:r>
            <a:r>
              <a:rPr dirty="0" sz="1350" spc="-3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dimensions</a:t>
            </a:r>
            <a:r>
              <a:rPr dirty="0" sz="1350" spc="-3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—</a:t>
            </a:r>
            <a:r>
              <a:rPr dirty="0" sz="1350" spc="-3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ECECED"/>
                </a:solidFill>
                <a:latin typeface="Arial"/>
                <a:cs typeface="Arial"/>
              </a:rPr>
              <a:t>validity,</a:t>
            </a:r>
            <a:r>
              <a:rPr dirty="0" sz="1350" spc="-3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coverage,</a:t>
            </a:r>
            <a:r>
              <a:rPr dirty="0" sz="1350" spc="-3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ECECED"/>
                </a:solidFill>
                <a:latin typeface="Arial"/>
                <a:cs typeface="Arial"/>
              </a:rPr>
              <a:t>and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accuracy</a:t>
            </a:r>
            <a:r>
              <a:rPr dirty="0" sz="1350" spc="-4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—</a:t>
            </a:r>
            <a:r>
              <a:rPr dirty="0" sz="1350" spc="-3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applied</a:t>
            </a:r>
            <a:r>
              <a:rPr dirty="0" sz="1350" spc="-3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systematically</a:t>
            </a:r>
            <a:r>
              <a:rPr dirty="0" sz="1350" spc="-2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to</a:t>
            </a:r>
            <a:r>
              <a:rPr dirty="0" sz="1350" spc="-3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evaluate</a:t>
            </a:r>
            <a:r>
              <a:rPr dirty="0" sz="1350" spc="-3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dataset</a:t>
            </a:r>
            <a:r>
              <a:rPr dirty="0" sz="1350" spc="-2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construction</a:t>
            </a:r>
            <a:r>
              <a:rPr dirty="0" sz="1350" spc="-3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practices</a:t>
            </a:r>
            <a:r>
              <a:rPr dirty="0" sz="1350" spc="-3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across</a:t>
            </a:r>
            <a:r>
              <a:rPr dirty="0" sz="1350" spc="-2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ECECED"/>
                </a:solidFill>
                <a:latin typeface="Arial"/>
                <a:cs typeface="Arial"/>
              </a:rPr>
              <a:t>political science.</a:t>
            </a:r>
            <a:endParaRPr sz="1350">
              <a:latin typeface="Arial"/>
              <a:cs typeface="Arial"/>
            </a:endParaRPr>
          </a:p>
          <a:p>
            <a:pPr marL="12700" marR="414020">
              <a:lnSpc>
                <a:spcPct val="118100"/>
              </a:lnSpc>
              <a:spcBef>
                <a:spcPts val="560"/>
              </a:spcBef>
            </a:pPr>
            <a:r>
              <a:rPr dirty="0" sz="1350" b="1">
                <a:solidFill>
                  <a:srgbClr val="B4FF38"/>
                </a:solidFill>
                <a:latin typeface="Arial"/>
                <a:cs typeface="Arial"/>
              </a:rPr>
              <a:t>Supply</a:t>
            </a:r>
            <a:r>
              <a:rPr dirty="0" sz="1350" spc="-30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FF38"/>
                </a:solidFill>
                <a:latin typeface="Arial"/>
                <a:cs typeface="Arial"/>
              </a:rPr>
              <a:t>chain</a:t>
            </a:r>
            <a:r>
              <a:rPr dirty="0" sz="1350" spc="-2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FF38"/>
                </a:solidFill>
                <a:latin typeface="Arial"/>
                <a:cs typeface="Arial"/>
              </a:rPr>
              <a:t>analysis</a:t>
            </a:r>
            <a:r>
              <a:rPr dirty="0" sz="1350" spc="-30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traced</a:t>
            </a:r>
            <a:r>
              <a:rPr dirty="0" sz="1350" spc="-3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data</a:t>
            </a:r>
            <a:r>
              <a:rPr dirty="0" sz="1350" spc="-2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production</a:t>
            </a:r>
            <a:r>
              <a:rPr dirty="0" sz="1350" spc="-3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through</a:t>
            </a:r>
            <a:r>
              <a:rPr dirty="0" sz="1350" spc="-3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four</a:t>
            </a:r>
            <a:r>
              <a:rPr dirty="0" sz="1350" spc="-2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actor</a:t>
            </a:r>
            <a:r>
              <a:rPr dirty="0" sz="1350" spc="-2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tiers</a:t>
            </a:r>
            <a:r>
              <a:rPr dirty="0" sz="1350" spc="-3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—</a:t>
            </a:r>
            <a:r>
              <a:rPr dirty="0" sz="1350" spc="-3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ECECED"/>
                </a:solidFill>
                <a:latin typeface="Arial"/>
                <a:cs typeface="Arial"/>
              </a:rPr>
              <a:t>respondents,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collection</a:t>
            </a:r>
            <a:r>
              <a:rPr dirty="0" sz="1350" spc="-4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agencies,</a:t>
            </a:r>
            <a:r>
              <a:rPr dirty="0" sz="1350" spc="-3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international</a:t>
            </a:r>
            <a:r>
              <a:rPr dirty="0" sz="1350" spc="-3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organizations,</a:t>
            </a:r>
            <a:r>
              <a:rPr dirty="0" sz="1350" spc="-4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and</a:t>
            </a:r>
            <a:r>
              <a:rPr dirty="0" sz="1350" spc="-3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academics</a:t>
            </a:r>
            <a:r>
              <a:rPr dirty="0" sz="1350" spc="-3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—</a:t>
            </a:r>
            <a:r>
              <a:rPr dirty="0" sz="1350" spc="-3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mapping</a:t>
            </a:r>
            <a:r>
              <a:rPr dirty="0" sz="1350" spc="-4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incentives</a:t>
            </a:r>
            <a:r>
              <a:rPr dirty="0" sz="1350" spc="-3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ECECED"/>
                </a:solidFill>
                <a:latin typeface="Arial"/>
                <a:cs typeface="Arial"/>
              </a:rPr>
              <a:t>and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capabilities</a:t>
            </a:r>
            <a:r>
              <a:rPr dirty="0" sz="1350" spc="-2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at</a:t>
            </a:r>
            <a:r>
              <a:rPr dirty="0" sz="1350" spc="-2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each</a:t>
            </a:r>
            <a:r>
              <a:rPr dirty="0" sz="1350" spc="-2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ECECED"/>
                </a:solidFill>
                <a:latin typeface="Arial"/>
                <a:cs typeface="Arial"/>
              </a:rPr>
              <a:t>node.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15700"/>
              </a:lnSpc>
              <a:spcBef>
                <a:spcPts val="600"/>
              </a:spcBef>
            </a:pPr>
            <a:r>
              <a:rPr dirty="0" sz="1350" b="1">
                <a:solidFill>
                  <a:srgbClr val="B4FF38"/>
                </a:solidFill>
                <a:latin typeface="Arial"/>
                <a:cs typeface="Arial"/>
              </a:rPr>
              <a:t>Illustrative</a:t>
            </a:r>
            <a:r>
              <a:rPr dirty="0" sz="1350" spc="-40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FF38"/>
                </a:solidFill>
                <a:latin typeface="Arial"/>
                <a:cs typeface="Arial"/>
              </a:rPr>
              <a:t>case</a:t>
            </a:r>
            <a:r>
              <a:rPr dirty="0" sz="1350" spc="-3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FF38"/>
                </a:solidFill>
                <a:latin typeface="Arial"/>
                <a:cs typeface="Arial"/>
              </a:rPr>
              <a:t>evidence</a:t>
            </a:r>
            <a:r>
              <a:rPr dirty="0" sz="1350" spc="-3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drawn</a:t>
            </a:r>
            <a:r>
              <a:rPr dirty="0" sz="1350" spc="-3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from</a:t>
            </a:r>
            <a:r>
              <a:rPr dirty="0" sz="1350" spc="-3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widely</a:t>
            </a:r>
            <a:r>
              <a:rPr dirty="0" sz="1350" spc="-3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used</a:t>
            </a:r>
            <a:r>
              <a:rPr dirty="0" sz="1350" spc="-4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datasets</a:t>
            </a:r>
            <a:r>
              <a:rPr dirty="0" sz="1350" spc="-3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including</a:t>
            </a:r>
            <a:r>
              <a:rPr dirty="0" sz="1350" spc="-3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 spc="-20" b="1">
                <a:solidFill>
                  <a:srgbClr val="B4FF38"/>
                </a:solidFill>
                <a:latin typeface="Arial"/>
                <a:cs typeface="Arial"/>
              </a:rPr>
              <a:t>Polity,</a:t>
            </a:r>
            <a:r>
              <a:rPr dirty="0" sz="1350" spc="-3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FF38"/>
                </a:solidFill>
                <a:latin typeface="Arial"/>
                <a:cs typeface="Arial"/>
              </a:rPr>
              <a:t>Freedom</a:t>
            </a:r>
            <a:r>
              <a:rPr dirty="0" sz="1350" spc="-3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B4FF38"/>
                </a:solidFill>
                <a:latin typeface="Arial"/>
                <a:cs typeface="Arial"/>
              </a:rPr>
              <a:t>House, </a:t>
            </a:r>
            <a:r>
              <a:rPr dirty="0" sz="1350" b="1">
                <a:solidFill>
                  <a:srgbClr val="B4FF38"/>
                </a:solidFill>
                <a:latin typeface="Arial"/>
                <a:cs typeface="Arial"/>
              </a:rPr>
              <a:t>Transparency</a:t>
            </a:r>
            <a:r>
              <a:rPr dirty="0" sz="1350" spc="-4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FF38"/>
                </a:solidFill>
                <a:latin typeface="Arial"/>
                <a:cs typeface="Arial"/>
              </a:rPr>
              <a:t>International,</a:t>
            </a:r>
            <a:r>
              <a:rPr dirty="0" sz="1350" spc="-4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350" spc="-30" b="1">
                <a:solidFill>
                  <a:srgbClr val="B4FF38"/>
                </a:solidFill>
                <a:latin typeface="Arial"/>
                <a:cs typeface="Arial"/>
              </a:rPr>
              <a:t>IMF,</a:t>
            </a:r>
            <a:r>
              <a:rPr dirty="0" sz="1350" spc="-4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FF38"/>
                </a:solidFill>
                <a:latin typeface="Arial"/>
                <a:cs typeface="Arial"/>
              </a:rPr>
              <a:t>and</a:t>
            </a:r>
            <a:r>
              <a:rPr dirty="0" sz="1350" spc="-3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FF38"/>
                </a:solidFill>
                <a:latin typeface="Arial"/>
                <a:cs typeface="Arial"/>
              </a:rPr>
              <a:t>World</a:t>
            </a:r>
            <a:r>
              <a:rPr dirty="0" sz="1350" spc="-40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FF38"/>
                </a:solidFill>
                <a:latin typeface="Arial"/>
                <a:cs typeface="Arial"/>
              </a:rPr>
              <a:t>Bank</a:t>
            </a:r>
            <a:r>
              <a:rPr dirty="0" sz="1350" spc="-4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to</a:t>
            </a:r>
            <a:r>
              <a:rPr dirty="0" sz="1350" spc="-4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demonstrate</a:t>
            </a:r>
            <a:r>
              <a:rPr dirty="0" sz="1350" spc="-4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recurring</a:t>
            </a:r>
            <a:r>
              <a:rPr dirty="0" sz="1350" spc="-4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quality</a:t>
            </a:r>
            <a:r>
              <a:rPr dirty="0" sz="1350" spc="-4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ECECED"/>
                </a:solidFill>
                <a:latin typeface="Arial"/>
                <a:cs typeface="Arial"/>
              </a:rPr>
              <a:t>failures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with</a:t>
            </a:r>
            <a:r>
              <a:rPr dirty="0" sz="1350" spc="-3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documented</a:t>
            </a:r>
            <a:r>
              <a:rPr dirty="0" sz="1350" spc="-3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ECECED"/>
                </a:solidFill>
                <a:latin typeface="Arial"/>
                <a:cs typeface="Arial"/>
              </a:rPr>
              <a:t>examples.</a:t>
            </a:r>
            <a:endParaRPr sz="1350">
              <a:latin typeface="Arial"/>
              <a:cs typeface="Arial"/>
            </a:endParaRPr>
          </a:p>
          <a:p>
            <a:pPr marL="12700" marR="395605">
              <a:lnSpc>
                <a:spcPct val="118100"/>
              </a:lnSpc>
              <a:spcBef>
                <a:spcPts val="565"/>
              </a:spcBef>
            </a:pPr>
            <a:r>
              <a:rPr dirty="0" sz="1350" spc="-10" b="1">
                <a:solidFill>
                  <a:srgbClr val="B4FF38"/>
                </a:solidFill>
                <a:latin typeface="Arial"/>
                <a:cs typeface="Arial"/>
              </a:rPr>
              <a:t>Incentive-</a:t>
            </a:r>
            <a:r>
              <a:rPr dirty="0" sz="1350" b="1">
                <a:solidFill>
                  <a:srgbClr val="B4FF38"/>
                </a:solidFill>
                <a:latin typeface="Arial"/>
                <a:cs typeface="Arial"/>
              </a:rPr>
              <a:t>capability</a:t>
            </a:r>
            <a:r>
              <a:rPr dirty="0" sz="1350" spc="-3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FF38"/>
                </a:solidFill>
                <a:latin typeface="Arial"/>
                <a:cs typeface="Arial"/>
              </a:rPr>
              <a:t>matrix</a:t>
            </a:r>
            <a:r>
              <a:rPr dirty="0" sz="1350" spc="-30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350" spc="-20">
                <a:solidFill>
                  <a:srgbClr val="ECECED"/>
                </a:solidFill>
                <a:latin typeface="Arial"/>
                <a:cs typeface="Arial"/>
              </a:rPr>
              <a:t>(Table</a:t>
            </a:r>
            <a:r>
              <a:rPr dirty="0" sz="1350" spc="-3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1)</a:t>
            </a:r>
            <a:r>
              <a:rPr dirty="0" sz="1350" spc="-2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codified</a:t>
            </a:r>
            <a:r>
              <a:rPr dirty="0" sz="1350" spc="-3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how</a:t>
            </a:r>
            <a:r>
              <a:rPr dirty="0" sz="1350" spc="-3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each</a:t>
            </a:r>
            <a:r>
              <a:rPr dirty="0" sz="1350" spc="-3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actor's</a:t>
            </a:r>
            <a:r>
              <a:rPr dirty="0" sz="1350" spc="-3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motivations</a:t>
            </a:r>
            <a:r>
              <a:rPr dirty="0" sz="1350" spc="-3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and</a:t>
            </a:r>
            <a:r>
              <a:rPr dirty="0" sz="1350" spc="-3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ECECED"/>
                </a:solidFill>
                <a:latin typeface="Arial"/>
                <a:cs typeface="Arial"/>
              </a:rPr>
              <a:t>resources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produce</a:t>
            </a:r>
            <a:r>
              <a:rPr dirty="0" sz="1350" spc="-3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specific</a:t>
            </a:r>
            <a:r>
              <a:rPr dirty="0" sz="1350" spc="-3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quality</a:t>
            </a:r>
            <a:r>
              <a:rPr dirty="0" sz="1350" spc="-3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consequences</a:t>
            </a:r>
            <a:r>
              <a:rPr dirty="0" sz="1350" spc="-3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—</a:t>
            </a:r>
            <a:r>
              <a:rPr dirty="0" sz="1350" spc="-3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nonresponse,</a:t>
            </a:r>
            <a:r>
              <a:rPr dirty="0" sz="1350" spc="-3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manipulation,</a:t>
            </a:r>
            <a:r>
              <a:rPr dirty="0" sz="1350" spc="-3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selection</a:t>
            </a:r>
            <a:r>
              <a:rPr dirty="0" sz="1350" spc="-3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bias,</a:t>
            </a:r>
            <a:r>
              <a:rPr dirty="0" sz="1350" spc="-3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ECECED"/>
                </a:solidFill>
                <a:latin typeface="Arial"/>
                <a:cs typeface="Arial"/>
              </a:rPr>
              <a:t>or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uncritical</a:t>
            </a:r>
            <a:r>
              <a:rPr dirty="0" sz="1350" spc="-4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ECECED"/>
                </a:solidFill>
                <a:latin typeface="Arial"/>
                <a:cs typeface="Arial"/>
              </a:rPr>
              <a:t>reuse.</a:t>
            </a:r>
            <a:endParaRPr sz="1350">
              <a:latin typeface="Arial"/>
              <a:cs typeface="Arial"/>
            </a:endParaRPr>
          </a:p>
          <a:p>
            <a:pPr marL="12700" marR="99695">
              <a:lnSpc>
                <a:spcPct val="115700"/>
              </a:lnSpc>
              <a:spcBef>
                <a:spcPts val="600"/>
              </a:spcBef>
            </a:pPr>
            <a:r>
              <a:rPr dirty="0" sz="1350" b="1">
                <a:solidFill>
                  <a:srgbClr val="B4FF38"/>
                </a:solidFill>
                <a:latin typeface="Arial"/>
                <a:cs typeface="Arial"/>
              </a:rPr>
              <a:t>Goodhart's</a:t>
            </a:r>
            <a:r>
              <a:rPr dirty="0" sz="1350" spc="-40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FF38"/>
                </a:solidFill>
                <a:latin typeface="Arial"/>
                <a:cs typeface="Arial"/>
              </a:rPr>
              <a:t>Law</a:t>
            </a:r>
            <a:r>
              <a:rPr dirty="0" sz="1350" spc="-3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FF38"/>
                </a:solidFill>
                <a:latin typeface="Arial"/>
                <a:cs typeface="Arial"/>
              </a:rPr>
              <a:t>application</a:t>
            </a:r>
            <a:r>
              <a:rPr dirty="0" sz="1350" spc="-3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extended</a:t>
            </a:r>
            <a:r>
              <a:rPr dirty="0" sz="1350" spc="-4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to</a:t>
            </a:r>
            <a:r>
              <a:rPr dirty="0" sz="1350" spc="-3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political</a:t>
            </a:r>
            <a:r>
              <a:rPr dirty="0" sz="1350" spc="-3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data,</a:t>
            </a:r>
            <a:r>
              <a:rPr dirty="0" sz="1350" spc="-3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showing</a:t>
            </a:r>
            <a:r>
              <a:rPr dirty="0" sz="1350" spc="-4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how</a:t>
            </a:r>
            <a:r>
              <a:rPr dirty="0" sz="1350" spc="-3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FF38"/>
                </a:solidFill>
                <a:latin typeface="Arial"/>
                <a:cs typeface="Arial"/>
              </a:rPr>
              <a:t>measures</a:t>
            </a:r>
            <a:r>
              <a:rPr dirty="0" sz="1350" spc="-40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350" b="1">
                <a:solidFill>
                  <a:srgbClr val="B4FF38"/>
                </a:solidFill>
                <a:latin typeface="Arial"/>
                <a:cs typeface="Arial"/>
              </a:rPr>
              <a:t>that</a:t>
            </a:r>
            <a:r>
              <a:rPr dirty="0" sz="1350" spc="-30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B4FF38"/>
                </a:solidFill>
                <a:latin typeface="Arial"/>
                <a:cs typeface="Arial"/>
              </a:rPr>
              <a:t>become </a:t>
            </a:r>
            <a:r>
              <a:rPr dirty="0" sz="1350" b="1">
                <a:solidFill>
                  <a:srgbClr val="B4FF38"/>
                </a:solidFill>
                <a:latin typeface="Arial"/>
                <a:cs typeface="Arial"/>
              </a:rPr>
              <a:t>targets</a:t>
            </a:r>
            <a:r>
              <a:rPr dirty="0" sz="1350" spc="-35" b="1">
                <a:solidFill>
                  <a:srgbClr val="B4FF38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—</a:t>
            </a:r>
            <a:r>
              <a:rPr dirty="0" sz="1350" spc="-2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GDP</a:t>
            </a:r>
            <a:r>
              <a:rPr dirty="0" sz="1350" spc="-2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growth</a:t>
            </a:r>
            <a:r>
              <a:rPr dirty="0" sz="1350" spc="-2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in</a:t>
            </a:r>
            <a:r>
              <a:rPr dirty="0" sz="1350" spc="-2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China,</a:t>
            </a:r>
            <a:r>
              <a:rPr dirty="0" sz="1350" spc="-2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fiscal</a:t>
            </a:r>
            <a:r>
              <a:rPr dirty="0" sz="1350" spc="-2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deficits</a:t>
            </a:r>
            <a:r>
              <a:rPr dirty="0" sz="1350" spc="-2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under</a:t>
            </a:r>
            <a:r>
              <a:rPr dirty="0" sz="1350" spc="-2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IMF</a:t>
            </a:r>
            <a:r>
              <a:rPr dirty="0" sz="1350" spc="-2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programs</a:t>
            </a:r>
            <a:r>
              <a:rPr dirty="0" sz="1350" spc="-2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—</a:t>
            </a:r>
            <a:r>
              <a:rPr dirty="0" sz="1350" spc="-2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are</a:t>
            </a:r>
            <a:r>
              <a:rPr dirty="0" sz="1350" spc="-2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ECECED"/>
                </a:solidFill>
                <a:latin typeface="Arial"/>
                <a:cs typeface="Arial"/>
              </a:rPr>
              <a:t>systematically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corrupted</a:t>
            </a:r>
            <a:r>
              <a:rPr dirty="0" sz="1350" spc="-2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by</a:t>
            </a:r>
            <a:r>
              <a:rPr dirty="0" sz="1350" spc="-25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that</a:t>
            </a:r>
            <a:r>
              <a:rPr dirty="0" sz="1350" spc="-20">
                <a:solidFill>
                  <a:srgbClr val="ECECED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ECECED"/>
                </a:solidFill>
                <a:latin typeface="Arial"/>
                <a:cs typeface="Arial"/>
              </a:rPr>
              <a:t>dual</a:t>
            </a:r>
            <a:r>
              <a:rPr dirty="0" sz="1350" spc="-20">
                <a:solidFill>
                  <a:srgbClr val="ECECED"/>
                </a:solidFill>
                <a:latin typeface="Arial"/>
                <a:cs typeface="Arial"/>
              </a:rPr>
              <a:t> role.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31" name="object 3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049" y="8010524"/>
            <a:ext cx="66675" cy="66674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62044" y="9324974"/>
            <a:ext cx="2017536" cy="9620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Flawed incentives across the data supply chain corrupt political science research</dc:title>
  <dcterms:created xsi:type="dcterms:W3CDTF">2026-09-23T16:54:29Z</dcterms:created>
  <dcterms:modified xsi:type="dcterms:W3CDTF">2026-09-23T16:54:29Z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2026-09-23T00:00:00Z</vt:filetime>
  </property>
  <property fmtid="{D5CDD505-2E9C-101B-9397-08002B2CF9AE}" pid="3" name="Creator">
    <vt:lpwstr>Adobe HTML2PDF creator 2.0.08162018</vt:lpwstr>
  </property>
  <property fmtid="{D5CDD505-2E9C-101B-9397-08002B2CF9AE}" pid="4" name="LastSaved">
    <vt:filetime>2026-09-23T00:00:00Z</vt:filetime>
  </property>
  <property fmtid="{D5CDD505-2E9C-101B-9397-08002B2CF9AE}" pid="5" name="Producer">
    <vt:lpwstr>Adobe HTML2PDF creator 2.0.08162018</vt:lpwstr>
  </property>
</Properties>
</file>